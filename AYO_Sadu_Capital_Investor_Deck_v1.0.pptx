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YO_LIGHT">
    <p:bg>
      <p:bgPr>
        <a:solidFill>
          <a:srgbClr val="F6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YO_DARK">
    <p:bg>
      <p:bgPr>
        <a:solidFill>
          <a:srgbClr val="0E0D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microsoft.com/investor/reports/ar22/index.html" TargetMode="External"/><Relationship Id="rId2" Type="http://schemas.openxmlformats.org/officeDocument/2006/relationships/hyperlink" Target="https://www.gartner.com/en/newsroom/press-releases/2025-08-28-gartner-says-artificial-intelligence-pcs-will-represent-31-percent-of-worldwide-pc-market-by-the-end-of-2025" TargetMode="External"/><Relationship Id="rId3" Type="http://schemas.openxmlformats.org/officeDocument/2006/relationships/hyperlink" Target="https://www.gartner.com/en/newsroom/press-releases/2026-1-20-gartner-says-worldwide-pc-shipments-increased-9-point-3-percent-in-fourth-quarter-of-2025-and-9-point-1-percent-for-the-full-year" TargetMode="External"/><Relationship Id="rId4" Type="http://schemas.openxmlformats.org/officeDocument/2006/relationships/hyperlink" Target="https://www.microsoft.com/en-us/microsoft-copilot/blog/2025/06/12/copilot-vision-on-windows-with-highlights-is-now-available-in-the-u-s/" TargetMode="External"/><Relationship Id="rId5" Type="http://schemas.openxmlformats.org/officeDocument/2006/relationships/hyperlink" Target="https://openai.com/index/chatgpt-for-your-most-ambitious-work/" TargetMode="External"/><Relationship Id="rId6" Type="http://schemas.openxmlformats.org/officeDocument/2006/relationships/hyperlink" Target="https://www.raycast.com/core-features/ai" TargetMode="External"/><Relationship Id="rId7" Type="http://schemas.openxmlformats.org/officeDocument/2006/relationships/hyperlink" Target="https://cluely.com/" TargetMode="External"/><Relationship Id="rId8" Type="http://schemas.openxmlformats.org/officeDocument/2006/relationships/hyperlink" Target="https://www.sadu.vc/the-most-active-vc-firms-in-mena" TargetMode="External"/><Relationship Id="rId9" Type="http://schemas.openxmlformats.org/officeDocument/2006/relationships/hyperlink" Target="https://replit.com/products/agent" TargetMode="External"/><Relationship Id="rId10" Type="http://schemas.openxmlformats.org/officeDocument/2006/relationships/hyperlink" Target="https://manus.im/docs/features/slides" TargetMode="External"/><Relationship Id="rId11" Type="http://schemas.openxmlformats.org/officeDocument/2006/relationships/hyperlink" Target="https://higgsfield.ai/ai-video" TargetMode="External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65008" y="0"/>
            <a:ext cx="4069080" cy="4069080"/>
          </a:xfrm>
          <a:prstGeom prst="ellipse">
            <a:avLst/>
          </a:prstGeom>
          <a:solidFill>
            <a:srgbClr val="6B57E8">
              <a:alpha val="18000"/>
            </a:srgbClr>
          </a:solidFill>
          <a:ln w="10160">
            <a:solidFill>
              <a:srgbClr val="6B57E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528048" y="4087368"/>
            <a:ext cx="2560320" cy="2560320"/>
          </a:xfrm>
          <a:prstGeom prst="ellipse">
            <a:avLst/>
          </a:prstGeom>
          <a:solidFill>
            <a:srgbClr val="5BD6B0">
              <a:alpha val="12000"/>
            </a:srgbClr>
          </a:solidFill>
          <a:ln w="10160">
            <a:solidFill>
              <a:srgbClr val="5BD6B0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02920" y="256032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b="1" spc="70" kern="0" dirty="0">
                <a:solidFill>
                  <a:srgbClr val="FFFFFF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AYO.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30352" y="932688"/>
            <a:ext cx="2029968" cy="256032"/>
          </a:xfrm>
          <a:prstGeom prst="roundRect">
            <a:avLst>
              <a:gd name="adj" fmla="val 50000"/>
            </a:avLst>
          </a:prstGeom>
          <a:solidFill>
            <a:srgbClr val="2B2750"/>
          </a:solidFill>
          <a:ln w="12700">
            <a:solidFill>
              <a:srgbClr val="2B2750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03504" y="932688"/>
            <a:ext cx="18836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20" b="1" spc="70" kern="0" dirty="0">
                <a:solidFill>
                  <a:srgbClr val="9B8AF3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PRE-SEED  •  AUGUST 2026</a:t>
            </a:r>
            <a:endParaRPr lang="en-US" sz="820" dirty="0"/>
          </a:p>
        </p:txBody>
      </p:sp>
      <p:sp>
        <p:nvSpPr>
          <p:cNvPr id="7" name="Text 5"/>
          <p:cNvSpPr txBox="1"/>
          <p:nvPr/>
        </p:nvSpPr>
        <p:spPr>
          <a:xfrm>
            <a:off x="530352" y="1408176"/>
            <a:ext cx="580644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The AI interface</a:t>
            </a:r>
            <a:endParaRPr lang="en-US" sz="4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for the PC.</a:t>
            </a:r>
            <a:endParaRPr lang="en-US" sz="42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3099816"/>
            <a:ext cx="6126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9B8AF3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Call it. </a:t>
            </a:r>
            <a:pPr algn="l" indent="0" marL="0">
              <a:buNone/>
            </a:pPr>
            <a:r>
              <a:rPr lang="en-US" sz="1650" b="1" dirty="0">
                <a:solidFill>
                  <a:srgbClr val="5BD6B0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Point at it. </a:t>
            </a:r>
            <a:pPr algn="l" indent="0" marL="0">
              <a:buNone/>
            </a:pPr>
            <a:r>
              <a:rPr lang="en-US" sz="1650" b="1" dirty="0">
                <a:solidFill>
                  <a:srgbClr val="51C6D9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Type silently. </a:t>
            </a:r>
            <a:pPr algn="l" indent="0" marL="0">
              <a:buNone/>
            </a:pPr>
            <a:r>
              <a:rPr lang="en-US" sz="1650" b="1" dirty="0">
                <a:solidFill>
                  <a:srgbClr val="FF8074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Let it act.</a:t>
            </a:r>
            <a:endParaRPr lang="en-US" sz="165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3547872"/>
            <a:ext cx="5440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B9B5CA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AYO makes AI available inside the user’s existing workflow—through voice, cursor, context and user-approved action.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59893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Prepared for Sadu Capital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627278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918CA6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AYO Systems  •  heyayo.com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6812280" y="987552"/>
            <a:ext cx="4709160" cy="4526280"/>
          </a:xfrm>
          <a:prstGeom prst="roundRect">
            <a:avLst>
              <a:gd name="adj" fmla="val 3636"/>
            </a:avLst>
          </a:prstGeom>
          <a:solidFill>
            <a:srgbClr val="15132C"/>
          </a:solidFill>
          <a:ln w="12700">
            <a:solidFill>
              <a:srgbClr val="312D5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12280" y="987552"/>
            <a:ext cx="4709160" cy="384048"/>
          </a:xfrm>
          <a:prstGeom prst="roundRect">
            <a:avLst>
              <a:gd name="adj" fmla="val 42857"/>
            </a:avLst>
          </a:prstGeom>
          <a:solidFill>
            <a:srgbClr val="211E3A"/>
          </a:solidFill>
          <a:ln w="12700">
            <a:solidFill>
              <a:srgbClr val="211E3A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059168" y="1133856"/>
            <a:ext cx="73152" cy="73152"/>
          </a:xfrm>
          <a:prstGeom prst="ellipse">
            <a:avLst/>
          </a:prstGeom>
          <a:solidFill>
            <a:srgbClr val="FF8074"/>
          </a:solidFill>
          <a:ln w="10160">
            <a:solidFill>
              <a:srgbClr val="FF8074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14616" y="1133856"/>
            <a:ext cx="73152" cy="73152"/>
          </a:xfrm>
          <a:prstGeom prst="ellipse">
            <a:avLst/>
          </a:prstGeom>
          <a:solidFill>
            <a:srgbClr val="F4C86A"/>
          </a:solidFill>
          <a:ln w="10160">
            <a:solidFill>
              <a:srgbClr val="F4C86A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70064" y="1133856"/>
            <a:ext cx="73152" cy="73152"/>
          </a:xfrm>
          <a:prstGeom prst="ellipse">
            <a:avLst/>
          </a:prstGeom>
          <a:solidFill>
            <a:srgbClr val="5BD6B0"/>
          </a:solidFill>
          <a:ln w="10160">
            <a:solidFill>
              <a:srgbClr val="5BD6B0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488168" y="102412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20" b="1" spc="80" kern="0" dirty="0">
                <a:solidFill>
                  <a:srgbClr val="77738E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WORKSPACE</a:t>
            </a:r>
            <a:endParaRPr lang="en-US" sz="720" dirty="0"/>
          </a:p>
        </p:txBody>
      </p:sp>
      <p:sp>
        <p:nvSpPr>
          <p:cNvPr id="18" name="Shape 16"/>
          <p:cNvSpPr/>
          <p:nvPr/>
        </p:nvSpPr>
        <p:spPr>
          <a:xfrm>
            <a:off x="7114032" y="1655064"/>
            <a:ext cx="1956816" cy="978408"/>
          </a:xfrm>
          <a:prstGeom prst="roundRect">
            <a:avLst>
              <a:gd name="adj" fmla="val 12150"/>
            </a:avLst>
          </a:prstGeom>
          <a:solidFill>
            <a:srgbClr val="1D1A36"/>
          </a:solidFill>
          <a:ln w="12700">
            <a:solidFill>
              <a:srgbClr val="34305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296912" y="1819656"/>
            <a:ext cx="685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spc="80" kern="0" dirty="0">
                <a:solidFill>
                  <a:srgbClr val="51C6D9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MOODLE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7296912" y="2066544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Week 4 research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materials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281160" y="1655064"/>
            <a:ext cx="1874520" cy="978408"/>
          </a:xfrm>
          <a:prstGeom prst="roundRect">
            <a:avLst>
              <a:gd name="adj" fmla="val 12150"/>
            </a:avLst>
          </a:prstGeom>
          <a:solidFill>
            <a:srgbClr val="1D1A36"/>
          </a:solidFill>
          <a:ln w="12700">
            <a:solidFill>
              <a:srgbClr val="34305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473184" y="1819656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spc="80" kern="0" dirty="0">
                <a:solidFill>
                  <a:srgbClr val="5BD6B0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FILES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9473184" y="2066544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3 documents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ready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549640" y="3008376"/>
            <a:ext cx="1170432" cy="1170432"/>
          </a:xfrm>
          <a:prstGeom prst="ellipse">
            <a:avLst/>
          </a:prstGeom>
          <a:solidFill>
            <a:srgbClr val="6B57E8"/>
          </a:solidFill>
          <a:ln w="10160">
            <a:solidFill>
              <a:srgbClr val="6B57E8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05088" y="3163824"/>
            <a:ext cx="859536" cy="859536"/>
          </a:xfrm>
          <a:prstGeom prst="ellipse">
            <a:avLst/>
          </a:prstGeom>
          <a:solidFill>
            <a:srgbClr val="211E3A"/>
          </a:solidFill>
          <a:ln w="20320">
            <a:solidFill>
              <a:srgbClr val="9B8AF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705088" y="3136392"/>
            <a:ext cx="85953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900" b="1" dirty="0">
                <a:solidFill>
                  <a:srgbClr val="FFFFFF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A</a:t>
            </a:r>
            <a:endParaRPr lang="en-US" sz="2900" dirty="0"/>
          </a:p>
        </p:txBody>
      </p:sp>
      <p:sp>
        <p:nvSpPr>
          <p:cNvPr id="27" name="Shape 25"/>
          <p:cNvSpPr/>
          <p:nvPr/>
        </p:nvSpPr>
        <p:spPr>
          <a:xfrm>
            <a:off x="7443216" y="4370832"/>
            <a:ext cx="3639312" cy="667512"/>
          </a:xfrm>
          <a:prstGeom prst="roundRect">
            <a:avLst>
              <a:gd name="adj" fmla="val 17808"/>
            </a:avLst>
          </a:prstGeom>
          <a:solidFill>
            <a:srgbClr val="211E3A"/>
          </a:solidFill>
          <a:ln w="12700">
            <a:solidFill>
              <a:srgbClr val="403A67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699248" y="453542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FFFFFF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“Turn this into a 7-slide presentation.”</a:t>
            </a:r>
            <a:endParaRPr lang="en-US" sz="1130" dirty="0"/>
          </a:p>
        </p:txBody>
      </p:sp>
      <p:sp>
        <p:nvSpPr>
          <p:cNvPr id="29" name="Shape 27"/>
          <p:cNvSpPr/>
          <p:nvPr/>
        </p:nvSpPr>
        <p:spPr>
          <a:xfrm>
            <a:off x="6958584" y="3136392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2B2750"/>
          </a:solidFill>
          <a:ln w="12700">
            <a:solidFill>
              <a:srgbClr val="2B2750">
                <a:alpha val="0"/>
              </a:srgbClr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031736" y="3136392"/>
            <a:ext cx="859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80" b="1" spc="70" kern="0" dirty="0">
                <a:solidFill>
                  <a:srgbClr val="9B8AF3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HEY AYO</a:t>
            </a:r>
            <a:endParaRPr lang="en-US" sz="780" dirty="0"/>
          </a:p>
        </p:txBody>
      </p:sp>
      <p:sp>
        <p:nvSpPr>
          <p:cNvPr id="31" name="Shape 29"/>
          <p:cNvSpPr/>
          <p:nvPr/>
        </p:nvSpPr>
        <p:spPr>
          <a:xfrm>
            <a:off x="10195560" y="3136392"/>
            <a:ext cx="841248" cy="256032"/>
          </a:xfrm>
          <a:prstGeom prst="roundRect">
            <a:avLst>
              <a:gd name="adj" fmla="val 50000"/>
            </a:avLst>
          </a:prstGeom>
          <a:solidFill>
            <a:srgbClr val="163A3D"/>
          </a:solidFill>
          <a:ln w="12700">
            <a:solidFill>
              <a:srgbClr val="163A3D">
                <a:alpha val="0"/>
              </a:srgb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268712" y="3136392"/>
            <a:ext cx="694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80" b="1" spc="70" kern="0" dirty="0">
                <a:solidFill>
                  <a:srgbClr val="5BD6B0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HOVER</a:t>
            </a:r>
            <a:endParaRPr lang="en-US" sz="780" dirty="0"/>
          </a:p>
        </p:txBody>
      </p:sp>
      <p:sp>
        <p:nvSpPr>
          <p:cNvPr id="33" name="Shape 31"/>
          <p:cNvSpPr/>
          <p:nvPr/>
        </p:nvSpPr>
        <p:spPr>
          <a:xfrm>
            <a:off x="7150608" y="3831336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183943"/>
          </a:solidFill>
          <a:ln w="12700">
            <a:solidFill>
              <a:srgbClr val="183943">
                <a:alpha val="0"/>
              </a:srgbClr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223760" y="3831336"/>
            <a:ext cx="676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80" b="1" spc="70" kern="0" dirty="0">
                <a:solidFill>
                  <a:srgbClr val="51C6D9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SILENT</a:t>
            </a:r>
            <a:endParaRPr lang="en-US" sz="780" dirty="0"/>
          </a:p>
        </p:txBody>
      </p:sp>
      <p:sp>
        <p:nvSpPr>
          <p:cNvPr id="35" name="Shape 33"/>
          <p:cNvSpPr/>
          <p:nvPr/>
        </p:nvSpPr>
        <p:spPr>
          <a:xfrm>
            <a:off x="10222992" y="3831336"/>
            <a:ext cx="658368" cy="256032"/>
          </a:xfrm>
          <a:prstGeom prst="roundRect">
            <a:avLst>
              <a:gd name="adj" fmla="val 50000"/>
            </a:avLst>
          </a:prstGeom>
          <a:solidFill>
            <a:srgbClr val="44282E"/>
          </a:solidFill>
          <a:ln w="12700">
            <a:solidFill>
              <a:srgbClr val="44282E">
                <a:alpha val="0"/>
              </a:srgbClr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0296144" y="3831336"/>
            <a:ext cx="512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80" b="1" spc="70" kern="0" dirty="0">
                <a:solidFill>
                  <a:srgbClr val="FF8074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ACT</a:t>
            </a:r>
            <a:endParaRPr lang="en-US" sz="780" dirty="0"/>
          </a:p>
        </p:txBody>
      </p:sp>
      <p:sp>
        <p:nvSpPr>
          <p:cNvPr id="37" name="Text 35"/>
          <p:cNvSpPr txBox="1"/>
          <p:nvPr/>
        </p:nvSpPr>
        <p:spPr>
          <a:xfrm>
            <a:off x="8622792" y="5230368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20" dirty="0">
                <a:solidFill>
                  <a:srgbClr val="77738E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Illustrative product experience</a:t>
            </a:r>
            <a:endParaRPr lang="en-US" sz="7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56032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b="1" spc="70" kern="0" dirty="0">
                <a:solidFill>
                  <a:srgbClr val="0E0D22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AYO.</a:t>
            </a:r>
            <a:endParaRPr lang="en-US" sz="1550" dirty="0"/>
          </a:p>
        </p:txBody>
      </p:sp>
      <p:sp>
        <p:nvSpPr>
          <p:cNvPr id="3" name="Shape 1"/>
          <p:cNvSpPr/>
          <p:nvPr/>
        </p:nvSpPr>
        <p:spPr>
          <a:xfrm>
            <a:off x="502920" y="758952"/>
            <a:ext cx="1266444" cy="256032"/>
          </a:xfrm>
          <a:prstGeom prst="roundRect">
            <a:avLst>
              <a:gd name="adj" fmla="val 50000"/>
            </a:avLst>
          </a:prstGeom>
          <a:solidFill>
            <a:srgbClr val="ECE9FF"/>
          </a:solidFill>
          <a:ln w="12700">
            <a:solidFill>
              <a:srgbClr val="ECE9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76072" y="758952"/>
            <a:ext cx="11201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10" b="1" spc="70" kern="0" dirty="0">
                <a:solidFill>
                  <a:srgbClr val="6B57E8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PROBLEM</a:t>
            </a:r>
            <a:endParaRPr lang="en-US" sz="81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133856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7152F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AI is powerful. The interface is still work.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636776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D596D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Users leave their task to access intelligence, rebuild context, then manually move the answer back.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6437376"/>
            <a:ext cx="11183112" cy="0"/>
          </a:xfrm>
          <a:prstGeom prst="line">
            <a:avLst/>
          </a:prstGeom>
          <a:noFill/>
          <a:ln w="8890">
            <a:solidFill>
              <a:srgbClr val="DEDBE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6483096"/>
            <a:ext cx="3063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30" b="1" spc="70" kern="0" dirty="0">
                <a:solidFill>
                  <a:srgbClr val="8A8798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AYO  •  CONFIDENTIAL  •  SADU CAPITAL</a:t>
            </a:r>
            <a:endParaRPr lang="en-US" sz="730" dirty="0"/>
          </a:p>
        </p:txBody>
      </p:sp>
      <p:sp>
        <p:nvSpPr>
          <p:cNvPr id="9" name="Text 7"/>
          <p:cNvSpPr txBox="1"/>
          <p:nvPr/>
        </p:nvSpPr>
        <p:spPr>
          <a:xfrm>
            <a:off x="11274552" y="6469380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8A8798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02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530352" y="2212848"/>
            <a:ext cx="5413248" cy="3502152"/>
          </a:xfrm>
          <a:prstGeom prst="roundRect">
            <a:avLst>
              <a:gd name="adj" fmla="val 3394"/>
            </a:avLst>
          </a:prstGeom>
          <a:solidFill>
            <a:srgbClr val="FFFFFF"/>
          </a:solidFill>
          <a:ln w="12700">
            <a:solidFill>
              <a:srgbClr val="DEDBE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4672" y="2487168"/>
            <a:ext cx="685800" cy="256032"/>
          </a:xfrm>
          <a:prstGeom prst="roundRect">
            <a:avLst>
              <a:gd name="adj" fmla="val 50000"/>
            </a:avLst>
          </a:prstGeom>
          <a:solidFill>
            <a:srgbClr val="FFF0ED"/>
          </a:solidFill>
          <a:ln w="12700">
            <a:solidFill>
              <a:srgbClr val="FFF0ED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77824" y="2487168"/>
            <a:ext cx="539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spc="70" kern="0" dirty="0">
                <a:solidFill>
                  <a:srgbClr val="FF8074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TODAY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804672" y="28346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7152F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The copy–switch–prompt loop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50392" y="3374136"/>
            <a:ext cx="256032" cy="256032"/>
          </a:xfrm>
          <a:prstGeom prst="ellipse">
            <a:avLst/>
          </a:prstGeom>
          <a:solidFill>
            <a:srgbClr val="CAC6D7"/>
          </a:solidFill>
          <a:ln w="10160">
            <a:solidFill>
              <a:srgbClr val="CAC6D7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50392" y="33695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1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1225296" y="3364992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D596D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Notice a problem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78408" y="3630168"/>
            <a:ext cx="0" cy="137160"/>
          </a:xfrm>
          <a:prstGeom prst="line">
            <a:avLst/>
          </a:prstGeom>
          <a:noFill/>
          <a:ln w="12700">
            <a:solidFill>
              <a:srgbClr val="D7D3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50392" y="3767328"/>
            <a:ext cx="256032" cy="256032"/>
          </a:xfrm>
          <a:prstGeom prst="ellipse">
            <a:avLst/>
          </a:prstGeom>
          <a:solidFill>
            <a:srgbClr val="CAC6D7"/>
          </a:solidFill>
          <a:ln w="10160">
            <a:solidFill>
              <a:srgbClr val="CAC6D7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50392" y="37627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2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1225296" y="3758184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D596D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Open an AI tool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78408" y="4023360"/>
            <a:ext cx="0" cy="137160"/>
          </a:xfrm>
          <a:prstGeom prst="line">
            <a:avLst/>
          </a:prstGeom>
          <a:noFill/>
          <a:ln w="12700">
            <a:solidFill>
              <a:srgbClr val="D7D3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50392" y="4160520"/>
            <a:ext cx="256032" cy="256032"/>
          </a:xfrm>
          <a:prstGeom prst="ellipse">
            <a:avLst/>
          </a:prstGeom>
          <a:solidFill>
            <a:srgbClr val="CAC6D7"/>
          </a:solidFill>
          <a:ln w="10160">
            <a:solidFill>
              <a:srgbClr val="CAC6D7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50392" y="41559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3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1225296" y="4151376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D596D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Rebuild the context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978408" y="4416552"/>
            <a:ext cx="0" cy="137160"/>
          </a:xfrm>
          <a:prstGeom prst="line">
            <a:avLst/>
          </a:prstGeom>
          <a:noFill/>
          <a:ln w="12700">
            <a:solidFill>
              <a:srgbClr val="D7D3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50392" y="4553712"/>
            <a:ext cx="256032" cy="256032"/>
          </a:xfrm>
          <a:prstGeom prst="ellipse">
            <a:avLst/>
          </a:prstGeom>
          <a:solidFill>
            <a:srgbClr val="CAC6D7"/>
          </a:solidFill>
          <a:ln w="10160">
            <a:solidFill>
              <a:srgbClr val="CAC6D7">
                <a:alpha val="0"/>
              </a:srgbClr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50392" y="45491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4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1225296" y="4544568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D596D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Copy the answer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978408" y="4809744"/>
            <a:ext cx="0" cy="137160"/>
          </a:xfrm>
          <a:prstGeom prst="line">
            <a:avLst/>
          </a:prstGeom>
          <a:noFill/>
          <a:ln w="12700">
            <a:solidFill>
              <a:srgbClr val="D7D3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50392" y="4946904"/>
            <a:ext cx="256032" cy="256032"/>
          </a:xfrm>
          <a:prstGeom prst="ellipse">
            <a:avLst/>
          </a:prstGeom>
          <a:solidFill>
            <a:srgbClr val="FF8074"/>
          </a:solidFill>
          <a:ln w="10160">
            <a:solidFill>
              <a:srgbClr val="FF8074">
                <a:alpha val="0"/>
              </a:srgbClr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50392" y="49423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5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1225296" y="4937760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7152F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Switch back and apply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832104" y="5404104"/>
            <a:ext cx="4526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40" b="1" dirty="0">
                <a:solidFill>
                  <a:srgbClr val="FF8074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Every switch costs attention—and every manual handoff limits what AI can do.</a:t>
            </a:r>
            <a:endParaRPr lang="en-US" sz="1040" dirty="0"/>
          </a:p>
        </p:txBody>
      </p:sp>
      <p:sp>
        <p:nvSpPr>
          <p:cNvPr id="34" name="Shape 32"/>
          <p:cNvSpPr/>
          <p:nvPr/>
        </p:nvSpPr>
        <p:spPr>
          <a:xfrm>
            <a:off x="6227064" y="2212848"/>
            <a:ext cx="5431536" cy="3502152"/>
          </a:xfrm>
          <a:prstGeom prst="roundRect">
            <a:avLst>
              <a:gd name="adj" fmla="val 3394"/>
            </a:avLst>
          </a:prstGeom>
          <a:solidFill>
            <a:srgbClr val="0E0D22"/>
          </a:solidFill>
          <a:ln w="12700">
            <a:solidFill>
              <a:srgbClr val="0E0D22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501384" y="2487168"/>
            <a:ext cx="932688" cy="256032"/>
          </a:xfrm>
          <a:prstGeom prst="roundRect">
            <a:avLst>
              <a:gd name="adj" fmla="val 50000"/>
            </a:avLst>
          </a:prstGeom>
          <a:solidFill>
            <a:srgbClr val="2B2750"/>
          </a:solidFill>
          <a:ln w="12700">
            <a:solidFill>
              <a:srgbClr val="2B2750">
                <a:alpha val="0"/>
              </a:srgbClr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574536" y="2487168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spc="70" kern="0" dirty="0">
                <a:solidFill>
                  <a:srgbClr val="9B8AF3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WITH AYO</a:t>
            </a:r>
            <a:endParaRPr lang="en-US" sz="800" dirty="0"/>
          </a:p>
        </p:txBody>
      </p:sp>
      <p:sp>
        <p:nvSpPr>
          <p:cNvPr id="37" name="Text 35"/>
          <p:cNvSpPr txBox="1"/>
          <p:nvPr/>
        </p:nvSpPr>
        <p:spPr>
          <a:xfrm>
            <a:off x="6501384" y="283464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Intelligence arrives inside the task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6537960" y="3410712"/>
            <a:ext cx="384048" cy="384048"/>
          </a:xfrm>
          <a:prstGeom prst="ellipse">
            <a:avLst/>
          </a:prstGeom>
          <a:solidFill>
            <a:srgbClr val="6B57E8"/>
          </a:solidFill>
          <a:ln w="10160">
            <a:solidFill>
              <a:srgbClr val="6B57E8">
                <a:alpha val="0"/>
              </a:srgbClr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537960" y="34061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01</a:t>
            </a:r>
            <a:endParaRPr lang="en-US" sz="1250" dirty="0"/>
          </a:p>
        </p:txBody>
      </p:sp>
      <p:sp>
        <p:nvSpPr>
          <p:cNvPr id="40" name="Text 38"/>
          <p:cNvSpPr txBox="1"/>
          <p:nvPr/>
        </p:nvSpPr>
        <p:spPr>
          <a:xfrm>
            <a:off x="7068312" y="340156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Point or call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8750808" y="3401568"/>
            <a:ext cx="2441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20" dirty="0">
                <a:solidFill>
                  <a:srgbClr val="B9B5CA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Wake word, hover or silent prompt</a:t>
            </a:r>
            <a:endParaRPr lang="en-US" sz="1020" dirty="0"/>
          </a:p>
        </p:txBody>
      </p:sp>
      <p:sp>
        <p:nvSpPr>
          <p:cNvPr id="42" name="Shape 40"/>
          <p:cNvSpPr/>
          <p:nvPr/>
        </p:nvSpPr>
        <p:spPr>
          <a:xfrm>
            <a:off x="6537960" y="4069080"/>
            <a:ext cx="384048" cy="384048"/>
          </a:xfrm>
          <a:prstGeom prst="ellipse">
            <a:avLst/>
          </a:prstGeom>
          <a:solidFill>
            <a:srgbClr val="51C6D9"/>
          </a:solidFill>
          <a:ln w="10160">
            <a:solidFill>
              <a:srgbClr val="51C6D9">
                <a:alpha val="0"/>
              </a:srgbClr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537960" y="40645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02</a:t>
            </a:r>
            <a:endParaRPr lang="en-US" sz="1250" dirty="0"/>
          </a:p>
        </p:txBody>
      </p:sp>
      <p:sp>
        <p:nvSpPr>
          <p:cNvPr id="44" name="Text 42"/>
          <p:cNvSpPr txBox="1"/>
          <p:nvPr/>
        </p:nvSpPr>
        <p:spPr>
          <a:xfrm>
            <a:off x="7068312" y="4059936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AYO understands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8750808" y="4059936"/>
            <a:ext cx="2441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20" dirty="0">
                <a:solidFill>
                  <a:srgbClr val="B9B5CA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Screen, file and workspace context</a:t>
            </a:r>
            <a:endParaRPr lang="en-US" sz="1020" dirty="0"/>
          </a:p>
        </p:txBody>
      </p:sp>
      <p:sp>
        <p:nvSpPr>
          <p:cNvPr id="46" name="Shape 44"/>
          <p:cNvSpPr/>
          <p:nvPr/>
        </p:nvSpPr>
        <p:spPr>
          <a:xfrm>
            <a:off x="6537960" y="4727448"/>
            <a:ext cx="384048" cy="384048"/>
          </a:xfrm>
          <a:prstGeom prst="ellipse">
            <a:avLst/>
          </a:prstGeom>
          <a:solidFill>
            <a:srgbClr val="5BD6B0"/>
          </a:solidFill>
          <a:ln w="10160">
            <a:solidFill>
              <a:srgbClr val="5BD6B0">
                <a:alpha val="0"/>
              </a:srgbClr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537960" y="47228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03</a:t>
            </a:r>
            <a:endParaRPr lang="en-US" sz="1250" dirty="0"/>
          </a:p>
        </p:txBody>
      </p:sp>
      <p:sp>
        <p:nvSpPr>
          <p:cNvPr id="48" name="Text 46"/>
          <p:cNvSpPr txBox="1"/>
          <p:nvPr/>
        </p:nvSpPr>
        <p:spPr>
          <a:xfrm>
            <a:off x="7068312" y="4718304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AYO helps or acts</a:t>
            </a:r>
            <a:endParaRPr lang="en-US" sz="1200" dirty="0"/>
          </a:p>
        </p:txBody>
      </p:sp>
      <p:sp>
        <p:nvSpPr>
          <p:cNvPr id="49" name="Text 47"/>
          <p:cNvSpPr txBox="1"/>
          <p:nvPr/>
        </p:nvSpPr>
        <p:spPr>
          <a:xfrm>
            <a:off x="8750808" y="4718304"/>
            <a:ext cx="2441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20" dirty="0">
                <a:solidFill>
                  <a:srgbClr val="B9B5CA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Answer, create or execute with approval</a:t>
            </a:r>
            <a:endParaRPr lang="en-US" sz="1020" dirty="0"/>
          </a:p>
        </p:txBody>
      </p:sp>
      <p:sp>
        <p:nvSpPr>
          <p:cNvPr id="50" name="Shape 48"/>
          <p:cNvSpPr/>
          <p:nvPr/>
        </p:nvSpPr>
        <p:spPr>
          <a:xfrm>
            <a:off x="6510528" y="5321808"/>
            <a:ext cx="4736592" cy="73152"/>
          </a:xfrm>
          <a:prstGeom prst="rect">
            <a:avLst/>
          </a:prstGeom>
          <a:solidFill>
            <a:srgbClr val="6B57E8"/>
          </a:solidFill>
          <a:ln w="12700">
            <a:solidFill>
              <a:srgbClr val="6B57E8">
                <a:alpha val="0"/>
              </a:srgbClr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6510528" y="5449824"/>
            <a:ext cx="47548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9B8AF3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The next interface is not another window. It is an always-available layer.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56032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b="1" spc="70" kern="0" dirty="0">
                <a:solidFill>
                  <a:srgbClr val="FFFFFF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AYO.</a:t>
            </a:r>
            <a:endParaRPr lang="en-US" sz="1550" dirty="0"/>
          </a:p>
        </p:txBody>
      </p:sp>
      <p:sp>
        <p:nvSpPr>
          <p:cNvPr id="3" name="Shape 1"/>
          <p:cNvSpPr/>
          <p:nvPr/>
        </p:nvSpPr>
        <p:spPr>
          <a:xfrm>
            <a:off x="502920" y="758952"/>
            <a:ext cx="1266444" cy="256032"/>
          </a:xfrm>
          <a:prstGeom prst="roundRect">
            <a:avLst>
              <a:gd name="adj" fmla="val 50000"/>
            </a:avLst>
          </a:prstGeom>
          <a:solidFill>
            <a:srgbClr val="2B2750"/>
          </a:solidFill>
          <a:ln w="12700">
            <a:solidFill>
              <a:srgbClr val="2B2750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76072" y="758952"/>
            <a:ext cx="11201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10" b="1" spc="70" kern="0" dirty="0">
                <a:solidFill>
                  <a:srgbClr val="9B8AF3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PRODUCT</a:t>
            </a:r>
            <a:endParaRPr lang="en-US" sz="81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133856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One assistant. Four natural ways to reach it.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636776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B9B5CA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AYO adapts to the moment instead of forcing every task into a chat box.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6437376"/>
            <a:ext cx="11183112" cy="0"/>
          </a:xfrm>
          <a:prstGeom prst="line">
            <a:avLst/>
          </a:prstGeom>
          <a:noFill/>
          <a:ln w="8890">
            <a:solidFill>
              <a:srgbClr val="29264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6483096"/>
            <a:ext cx="3063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30" b="1" spc="70" kern="0" dirty="0">
                <a:solidFill>
                  <a:srgbClr val="77738E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AYO  •  CONFIDENTIAL  •  SADU CAPITAL</a:t>
            </a:r>
            <a:endParaRPr lang="en-US" sz="730" dirty="0"/>
          </a:p>
        </p:txBody>
      </p:sp>
      <p:sp>
        <p:nvSpPr>
          <p:cNvPr id="9" name="Text 7"/>
          <p:cNvSpPr txBox="1"/>
          <p:nvPr/>
        </p:nvSpPr>
        <p:spPr>
          <a:xfrm>
            <a:off x="11274552" y="6469380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77738E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03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5239512" y="2203704"/>
            <a:ext cx="1691640" cy="1691640"/>
          </a:xfrm>
          <a:prstGeom prst="ellipse">
            <a:avLst/>
          </a:prstGeom>
          <a:solidFill>
            <a:srgbClr val="6B57E8"/>
          </a:solidFill>
          <a:ln w="10160">
            <a:solidFill>
              <a:srgbClr val="6B57E8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58968" y="2423160"/>
            <a:ext cx="1252728" cy="1252728"/>
          </a:xfrm>
          <a:prstGeom prst="ellipse">
            <a:avLst/>
          </a:prstGeom>
          <a:solidFill>
            <a:srgbClr val="17152F"/>
          </a:solidFill>
          <a:ln w="22860">
            <a:solidFill>
              <a:srgbClr val="9B8AF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58968" y="2551176"/>
            <a:ext cx="12527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AYO</a:t>
            </a:r>
            <a:endParaRPr lang="en-US" sz="2500" dirty="0"/>
          </a:p>
        </p:txBody>
      </p:sp>
      <p:sp>
        <p:nvSpPr>
          <p:cNvPr id="13" name="Text 11"/>
          <p:cNvSpPr txBox="1"/>
          <p:nvPr/>
        </p:nvSpPr>
        <p:spPr>
          <a:xfrm>
            <a:off x="5440680" y="294436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70" dirty="0">
                <a:solidFill>
                  <a:srgbClr val="B9B5CA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context-aware</a:t>
            </a:r>
            <a:endParaRPr lang="en-US" sz="87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70" dirty="0">
                <a:solidFill>
                  <a:srgbClr val="B9B5CA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AI companion</a:t>
            </a:r>
            <a:endParaRPr lang="en-US" sz="870" dirty="0"/>
          </a:p>
        </p:txBody>
      </p:sp>
      <p:sp>
        <p:nvSpPr>
          <p:cNvPr id="14" name="Shape 12"/>
          <p:cNvSpPr/>
          <p:nvPr/>
        </p:nvSpPr>
        <p:spPr>
          <a:xfrm>
            <a:off x="594360" y="2212848"/>
            <a:ext cx="3794760" cy="1417320"/>
          </a:xfrm>
          <a:prstGeom prst="roundRect">
            <a:avLst>
              <a:gd name="adj" fmla="val 8387"/>
            </a:avLst>
          </a:prstGeom>
          <a:solidFill>
            <a:srgbClr val="17152F"/>
          </a:solidFill>
          <a:ln w="12700">
            <a:solidFill>
              <a:srgbClr val="2C294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" y="2212848"/>
            <a:ext cx="45720" cy="1417320"/>
          </a:xfrm>
          <a:prstGeom prst="rect">
            <a:avLst/>
          </a:prstGeom>
          <a:solidFill>
            <a:srgbClr val="6B57E8"/>
          </a:solidFill>
          <a:ln w="12700">
            <a:solidFill>
              <a:srgbClr val="6B57E8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2395728"/>
            <a:ext cx="1170432" cy="256032"/>
          </a:xfrm>
          <a:prstGeom prst="roundRect">
            <a:avLst>
              <a:gd name="adj" fmla="val 50000"/>
            </a:avLst>
          </a:prstGeom>
          <a:solidFill>
            <a:srgbClr val="282449"/>
          </a:solidFill>
          <a:ln w="12700">
            <a:solidFill>
              <a:srgbClr val="282449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96112" y="2395728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40" b="1" spc="70" kern="0" dirty="0">
                <a:solidFill>
                  <a:srgbClr val="6B57E8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“HEY AYO”</a:t>
            </a:r>
            <a:endParaRPr lang="en-US" sz="74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2734056"/>
            <a:ext cx="3337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Wake word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3072384"/>
            <a:ext cx="3319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40" dirty="0">
                <a:solidFill>
                  <a:srgbClr val="B9B5CA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Hands-free help without leaving the keyboard, document or game.</a:t>
            </a:r>
            <a:endParaRPr lang="en-US" sz="1040" dirty="0"/>
          </a:p>
        </p:txBody>
      </p:sp>
      <p:sp>
        <p:nvSpPr>
          <p:cNvPr id="20" name="Shape 18"/>
          <p:cNvSpPr/>
          <p:nvPr/>
        </p:nvSpPr>
        <p:spPr>
          <a:xfrm>
            <a:off x="7772400" y="2212848"/>
            <a:ext cx="3794760" cy="1417320"/>
          </a:xfrm>
          <a:prstGeom prst="roundRect">
            <a:avLst>
              <a:gd name="adj" fmla="val 8387"/>
            </a:avLst>
          </a:prstGeom>
          <a:solidFill>
            <a:srgbClr val="17152F"/>
          </a:solidFill>
          <a:ln w="12700">
            <a:solidFill>
              <a:srgbClr val="2C294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0" y="2212848"/>
            <a:ext cx="45720" cy="1417320"/>
          </a:xfrm>
          <a:prstGeom prst="rect">
            <a:avLst/>
          </a:prstGeom>
          <a:solidFill>
            <a:srgbClr val="5BD6B0"/>
          </a:solidFill>
          <a:ln w="12700">
            <a:solidFill>
              <a:srgbClr val="5BD6B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01000" y="2395728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173436"/>
          </a:solidFill>
          <a:ln w="12700">
            <a:solidFill>
              <a:srgbClr val="173436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074152" y="2395728"/>
            <a:ext cx="1133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40" b="1" spc="70" kern="0" dirty="0">
                <a:solidFill>
                  <a:srgbClr val="5BD6B0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CURSOR CONTEXT</a:t>
            </a:r>
            <a:endParaRPr lang="en-US" sz="740" dirty="0"/>
          </a:p>
        </p:txBody>
      </p:sp>
      <p:sp>
        <p:nvSpPr>
          <p:cNvPr id="24" name="Text 22"/>
          <p:cNvSpPr txBox="1"/>
          <p:nvPr/>
        </p:nvSpPr>
        <p:spPr>
          <a:xfrm>
            <a:off x="8001000" y="2734056"/>
            <a:ext cx="3337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Hover to ask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8001000" y="3072384"/>
            <a:ext cx="3319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40" dirty="0">
                <a:solidFill>
                  <a:srgbClr val="B9B5CA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Point at what matters; ask without manually copying or explaining it.</a:t>
            </a:r>
            <a:endParaRPr lang="en-US" sz="1040" dirty="0"/>
          </a:p>
        </p:txBody>
      </p:sp>
      <p:sp>
        <p:nvSpPr>
          <p:cNvPr id="26" name="Shape 24"/>
          <p:cNvSpPr/>
          <p:nvPr/>
        </p:nvSpPr>
        <p:spPr>
          <a:xfrm>
            <a:off x="594360" y="4297680"/>
            <a:ext cx="3794760" cy="1417320"/>
          </a:xfrm>
          <a:prstGeom prst="roundRect">
            <a:avLst>
              <a:gd name="adj" fmla="val 8387"/>
            </a:avLst>
          </a:prstGeom>
          <a:solidFill>
            <a:srgbClr val="17152F"/>
          </a:solidFill>
          <a:ln w="12700">
            <a:solidFill>
              <a:srgbClr val="2C294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4360" y="4297680"/>
            <a:ext cx="45720" cy="1417320"/>
          </a:xfrm>
          <a:prstGeom prst="rect">
            <a:avLst/>
          </a:prstGeom>
          <a:solidFill>
            <a:srgbClr val="51C6D9"/>
          </a:solidFill>
          <a:ln w="12700">
            <a:solidFill>
              <a:srgbClr val="51C6D9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22960" y="4480560"/>
            <a:ext cx="1170432" cy="256032"/>
          </a:xfrm>
          <a:prstGeom prst="roundRect">
            <a:avLst>
              <a:gd name="adj" fmla="val 50000"/>
            </a:avLst>
          </a:prstGeom>
          <a:solidFill>
            <a:srgbClr val="18333D"/>
          </a:solidFill>
          <a:ln w="12700">
            <a:solidFill>
              <a:srgbClr val="18333D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96112" y="4480560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40" b="1" spc="70" kern="0" dirty="0">
                <a:solidFill>
                  <a:srgbClr val="51C6D9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TYPE, DON’T SPEAK</a:t>
            </a:r>
            <a:endParaRPr lang="en-US" sz="740" dirty="0"/>
          </a:p>
        </p:txBody>
      </p:sp>
      <p:sp>
        <p:nvSpPr>
          <p:cNvPr id="30" name="Text 28"/>
          <p:cNvSpPr txBox="1"/>
          <p:nvPr/>
        </p:nvSpPr>
        <p:spPr>
          <a:xfrm>
            <a:off x="822960" y="4818888"/>
            <a:ext cx="3337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Silent mode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822960" y="5157216"/>
            <a:ext cx="3319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40" dirty="0">
                <a:solidFill>
                  <a:srgbClr val="B9B5CA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A discreet command layer for classrooms, offices and public spaces.</a:t>
            </a:r>
            <a:endParaRPr lang="en-US" sz="1040" dirty="0"/>
          </a:p>
        </p:txBody>
      </p:sp>
      <p:sp>
        <p:nvSpPr>
          <p:cNvPr id="32" name="Shape 30"/>
          <p:cNvSpPr/>
          <p:nvPr/>
        </p:nvSpPr>
        <p:spPr>
          <a:xfrm>
            <a:off x="7772400" y="4297680"/>
            <a:ext cx="3794760" cy="1417320"/>
          </a:xfrm>
          <a:prstGeom prst="roundRect">
            <a:avLst>
              <a:gd name="adj" fmla="val 8387"/>
            </a:avLst>
          </a:prstGeom>
          <a:solidFill>
            <a:srgbClr val="17152F"/>
          </a:solidFill>
          <a:ln w="12700">
            <a:solidFill>
              <a:srgbClr val="2C294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772400" y="4297680"/>
            <a:ext cx="45720" cy="1417320"/>
          </a:xfrm>
          <a:prstGeom prst="rect">
            <a:avLst/>
          </a:prstGeom>
          <a:solidFill>
            <a:srgbClr val="FF8074"/>
          </a:solidFill>
          <a:ln w="12700">
            <a:solidFill>
              <a:srgbClr val="FF8074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001000" y="4480560"/>
            <a:ext cx="1170432" cy="256032"/>
          </a:xfrm>
          <a:prstGeom prst="roundRect">
            <a:avLst>
              <a:gd name="adj" fmla="val 50000"/>
            </a:avLst>
          </a:prstGeom>
          <a:solidFill>
            <a:srgbClr val="40262D"/>
          </a:solidFill>
          <a:ln w="12700">
            <a:solidFill>
              <a:srgbClr val="40262D">
                <a:alpha val="0"/>
              </a:srgbClr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074152" y="4480560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40" b="1" spc="70" kern="0" dirty="0">
                <a:solidFill>
                  <a:srgbClr val="FF8074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HELP → ACTION</a:t>
            </a:r>
            <a:endParaRPr lang="en-US" sz="740" dirty="0"/>
          </a:p>
        </p:txBody>
      </p:sp>
      <p:sp>
        <p:nvSpPr>
          <p:cNvPr id="36" name="Text 34"/>
          <p:cNvSpPr txBox="1"/>
          <p:nvPr/>
        </p:nvSpPr>
        <p:spPr>
          <a:xfrm>
            <a:off x="8001000" y="4818888"/>
            <a:ext cx="3337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Proactive + agentic</a:t>
            </a:r>
            <a:endParaRPr lang="en-US" sz="1600" dirty="0"/>
          </a:p>
        </p:txBody>
      </p:sp>
      <p:sp>
        <p:nvSpPr>
          <p:cNvPr id="37" name="Text 35"/>
          <p:cNvSpPr txBox="1"/>
          <p:nvPr/>
        </p:nvSpPr>
        <p:spPr>
          <a:xfrm>
            <a:off x="8001000" y="5157216"/>
            <a:ext cx="3319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40" dirty="0">
                <a:solidFill>
                  <a:srgbClr val="B9B5CA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AYO can suggest the next step and execute only after user approval.</a:t>
            </a:r>
            <a:endParaRPr lang="en-US" sz="1040" dirty="0"/>
          </a:p>
        </p:txBody>
      </p:sp>
      <p:sp>
        <p:nvSpPr>
          <p:cNvPr id="38" name="Shape 36"/>
          <p:cNvSpPr/>
          <p:nvPr/>
        </p:nvSpPr>
        <p:spPr>
          <a:xfrm>
            <a:off x="4389120" y="2880360"/>
            <a:ext cx="713232" cy="0"/>
          </a:xfrm>
          <a:prstGeom prst="line">
            <a:avLst/>
          </a:prstGeom>
          <a:noFill/>
          <a:ln w="13970">
            <a:solidFill>
              <a:srgbClr val="9B8AF3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6931152" y="2880360"/>
            <a:ext cx="713232" cy="0"/>
          </a:xfrm>
          <a:prstGeom prst="line">
            <a:avLst/>
          </a:prstGeom>
          <a:noFill/>
          <a:ln w="13970">
            <a:solidFill>
              <a:srgbClr val="5BD6B0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4389120" y="4974336"/>
            <a:ext cx="713232" cy="-1152144"/>
          </a:xfrm>
          <a:prstGeom prst="line">
            <a:avLst/>
          </a:prstGeom>
          <a:noFill/>
          <a:ln w="13970">
            <a:solidFill>
              <a:srgbClr val="51C6D9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6931152" y="3822192"/>
            <a:ext cx="713232" cy="1152144"/>
          </a:xfrm>
          <a:prstGeom prst="line">
            <a:avLst/>
          </a:prstGeom>
          <a:noFill/>
          <a:ln w="13970">
            <a:solidFill>
              <a:srgbClr val="FF8074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56032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b="1" spc="70" kern="0" dirty="0">
                <a:solidFill>
                  <a:srgbClr val="0E0D22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AYO.</a:t>
            </a:r>
            <a:endParaRPr lang="en-US" sz="1550" dirty="0"/>
          </a:p>
        </p:txBody>
      </p:sp>
      <p:sp>
        <p:nvSpPr>
          <p:cNvPr id="3" name="Shape 1"/>
          <p:cNvSpPr/>
          <p:nvPr/>
        </p:nvSpPr>
        <p:spPr>
          <a:xfrm>
            <a:off x="502920" y="758952"/>
            <a:ext cx="1746504" cy="256032"/>
          </a:xfrm>
          <a:prstGeom prst="roundRect">
            <a:avLst>
              <a:gd name="adj" fmla="val 50000"/>
            </a:avLst>
          </a:prstGeom>
          <a:solidFill>
            <a:srgbClr val="ECE9FF"/>
          </a:solidFill>
          <a:ln w="12700">
            <a:solidFill>
              <a:srgbClr val="ECE9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76072" y="75895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10" b="1" spc="70" kern="0" dirty="0">
                <a:solidFill>
                  <a:srgbClr val="6B57E8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HOW IT WORKS</a:t>
            </a:r>
            <a:endParaRPr lang="en-US" sz="81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133856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7152F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From screen context to trusted action.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636776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D596D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A model-flexible orchestration layer turns user intent into contextual help—while the user stays in control.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6437376"/>
            <a:ext cx="11183112" cy="0"/>
          </a:xfrm>
          <a:prstGeom prst="line">
            <a:avLst/>
          </a:prstGeom>
          <a:noFill/>
          <a:ln w="8890">
            <a:solidFill>
              <a:srgbClr val="DEDBE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6483096"/>
            <a:ext cx="3063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30" b="1" spc="70" kern="0" dirty="0">
                <a:solidFill>
                  <a:srgbClr val="8A8798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AYO  •  CONFIDENTIAL  •  SADU CAPITAL</a:t>
            </a:r>
            <a:endParaRPr lang="en-US" sz="730" dirty="0"/>
          </a:p>
        </p:txBody>
      </p:sp>
      <p:sp>
        <p:nvSpPr>
          <p:cNvPr id="9" name="Text 7"/>
          <p:cNvSpPr txBox="1"/>
          <p:nvPr/>
        </p:nvSpPr>
        <p:spPr>
          <a:xfrm>
            <a:off x="11274552" y="6469380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8A8798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04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566928" y="2359152"/>
            <a:ext cx="1993392" cy="2148840"/>
          </a:xfrm>
          <a:prstGeom prst="roundRect">
            <a:avLst>
              <a:gd name="adj" fmla="val 5963"/>
            </a:avLst>
          </a:prstGeom>
          <a:solidFill>
            <a:srgbClr val="FFFFFF"/>
          </a:solidFill>
          <a:ln w="12700">
            <a:solidFill>
              <a:srgbClr val="DEDBE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6928" y="2359152"/>
            <a:ext cx="45720" cy="2148840"/>
          </a:xfrm>
          <a:prstGeom prst="rect">
            <a:avLst/>
          </a:prstGeom>
          <a:solidFill>
            <a:srgbClr val="6B57E8"/>
          </a:solidFill>
          <a:ln w="12700">
            <a:solidFill>
              <a:srgbClr val="6B57E8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86384" y="2633472"/>
            <a:ext cx="420624" cy="420624"/>
          </a:xfrm>
          <a:prstGeom prst="ellipse">
            <a:avLst/>
          </a:prstGeom>
          <a:solidFill>
            <a:srgbClr val="6B57E8"/>
          </a:solidFill>
          <a:ln w="10160">
            <a:solidFill>
              <a:srgbClr val="6B57E8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86384" y="26289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1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786384" y="320040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7152F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Reach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86384" y="3584448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5D596D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Voice · hover · silent prompt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2578608" y="3383280"/>
            <a:ext cx="228600" cy="0"/>
          </a:xfrm>
          <a:prstGeom prst="line">
            <a:avLst/>
          </a:prstGeom>
          <a:noFill/>
          <a:ln w="19050">
            <a:solidFill>
              <a:srgbClr val="DEDBE9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2834640" y="2359152"/>
            <a:ext cx="1993392" cy="2148840"/>
          </a:xfrm>
          <a:prstGeom prst="roundRect">
            <a:avLst>
              <a:gd name="adj" fmla="val 5963"/>
            </a:avLst>
          </a:prstGeom>
          <a:solidFill>
            <a:srgbClr val="FFFFFF"/>
          </a:solidFill>
          <a:ln w="12700">
            <a:solidFill>
              <a:srgbClr val="DEDBE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34640" y="2359152"/>
            <a:ext cx="45720" cy="2148840"/>
          </a:xfrm>
          <a:prstGeom prst="rect">
            <a:avLst/>
          </a:prstGeom>
          <a:solidFill>
            <a:srgbClr val="51C6D9"/>
          </a:solidFill>
          <a:ln w="12700">
            <a:solidFill>
              <a:srgbClr val="51C6D9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054096" y="2633472"/>
            <a:ext cx="420624" cy="420624"/>
          </a:xfrm>
          <a:prstGeom prst="ellipse">
            <a:avLst/>
          </a:prstGeom>
          <a:solidFill>
            <a:srgbClr val="51C6D9"/>
          </a:solidFill>
          <a:ln w="10160">
            <a:solidFill>
              <a:srgbClr val="51C6D9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054096" y="26289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2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3054096" y="320040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7152F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See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3054096" y="3584448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5D596D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Screen · files · email · app context</a:t>
            </a:r>
            <a:endParaRPr lang="en-US" sz="1030" dirty="0"/>
          </a:p>
        </p:txBody>
      </p:sp>
      <p:sp>
        <p:nvSpPr>
          <p:cNvPr id="23" name="Shape 21"/>
          <p:cNvSpPr/>
          <p:nvPr/>
        </p:nvSpPr>
        <p:spPr>
          <a:xfrm>
            <a:off x="4846320" y="3383280"/>
            <a:ext cx="228600" cy="0"/>
          </a:xfrm>
          <a:prstGeom prst="line">
            <a:avLst/>
          </a:prstGeom>
          <a:noFill/>
          <a:ln w="19050">
            <a:solidFill>
              <a:srgbClr val="DEDBE9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5102352" y="2359152"/>
            <a:ext cx="1993392" cy="2148840"/>
          </a:xfrm>
          <a:prstGeom prst="roundRect">
            <a:avLst>
              <a:gd name="adj" fmla="val 5963"/>
            </a:avLst>
          </a:prstGeom>
          <a:solidFill>
            <a:srgbClr val="FFFFFF"/>
          </a:solidFill>
          <a:ln w="12700">
            <a:solidFill>
              <a:srgbClr val="DEDBE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102352" y="2359152"/>
            <a:ext cx="45720" cy="2148840"/>
          </a:xfrm>
          <a:prstGeom prst="rect">
            <a:avLst/>
          </a:prstGeom>
          <a:solidFill>
            <a:srgbClr val="5BD6B0"/>
          </a:solidFill>
          <a:ln w="12700">
            <a:solidFill>
              <a:srgbClr val="5BD6B0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321808" y="2633472"/>
            <a:ext cx="420624" cy="420624"/>
          </a:xfrm>
          <a:prstGeom prst="ellipse">
            <a:avLst/>
          </a:prstGeom>
          <a:solidFill>
            <a:srgbClr val="5BD6B0"/>
          </a:solidFill>
          <a:ln w="10160">
            <a:solidFill>
              <a:srgbClr val="5BD6B0">
                <a:alpha val="0"/>
              </a:srgbClr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321808" y="26289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3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5321808" y="320040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7152F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Reason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5321808" y="3584448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5D596D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Route to the right model or tool</a:t>
            </a:r>
            <a:endParaRPr lang="en-US" sz="1030" dirty="0"/>
          </a:p>
        </p:txBody>
      </p:sp>
      <p:sp>
        <p:nvSpPr>
          <p:cNvPr id="30" name="Shape 28"/>
          <p:cNvSpPr/>
          <p:nvPr/>
        </p:nvSpPr>
        <p:spPr>
          <a:xfrm>
            <a:off x="7114032" y="3383280"/>
            <a:ext cx="228600" cy="0"/>
          </a:xfrm>
          <a:prstGeom prst="line">
            <a:avLst/>
          </a:prstGeom>
          <a:noFill/>
          <a:ln w="19050">
            <a:solidFill>
              <a:srgbClr val="DEDBE9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7370064" y="2359152"/>
            <a:ext cx="1993392" cy="2148840"/>
          </a:xfrm>
          <a:prstGeom prst="roundRect">
            <a:avLst>
              <a:gd name="adj" fmla="val 5963"/>
            </a:avLst>
          </a:prstGeom>
          <a:solidFill>
            <a:srgbClr val="FFFFFF"/>
          </a:solidFill>
          <a:ln w="12700">
            <a:solidFill>
              <a:srgbClr val="DEDBE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370064" y="2359152"/>
            <a:ext cx="45720" cy="2148840"/>
          </a:xfrm>
          <a:prstGeom prst="rect">
            <a:avLst/>
          </a:prstGeom>
          <a:solidFill>
            <a:srgbClr val="FF8074"/>
          </a:solidFill>
          <a:ln w="12700">
            <a:solidFill>
              <a:srgbClr val="FF8074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589520" y="2633472"/>
            <a:ext cx="420624" cy="420624"/>
          </a:xfrm>
          <a:prstGeom prst="ellipse">
            <a:avLst/>
          </a:prstGeom>
          <a:solidFill>
            <a:srgbClr val="FF8074"/>
          </a:solidFill>
          <a:ln w="10160">
            <a:solidFill>
              <a:srgbClr val="FF8074">
                <a:alpha val="0"/>
              </a:srgbClr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589520" y="26289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4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7589520" y="320040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7152F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Act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7589520" y="3584448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5D596D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Draft · create · click · type · organize</a:t>
            </a:r>
            <a:endParaRPr lang="en-US" sz="1030" dirty="0"/>
          </a:p>
        </p:txBody>
      </p:sp>
      <p:sp>
        <p:nvSpPr>
          <p:cNvPr id="37" name="Shape 35"/>
          <p:cNvSpPr/>
          <p:nvPr/>
        </p:nvSpPr>
        <p:spPr>
          <a:xfrm>
            <a:off x="9381744" y="3383280"/>
            <a:ext cx="228600" cy="0"/>
          </a:xfrm>
          <a:prstGeom prst="line">
            <a:avLst/>
          </a:prstGeom>
          <a:noFill/>
          <a:ln w="19050">
            <a:solidFill>
              <a:srgbClr val="DEDBE9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9637776" y="2359152"/>
            <a:ext cx="1993392" cy="2148840"/>
          </a:xfrm>
          <a:prstGeom prst="roundRect">
            <a:avLst>
              <a:gd name="adj" fmla="val 5963"/>
            </a:avLst>
          </a:prstGeom>
          <a:solidFill>
            <a:srgbClr val="FFFFFF"/>
          </a:solidFill>
          <a:ln w="12700">
            <a:solidFill>
              <a:srgbClr val="DEDBE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637776" y="2359152"/>
            <a:ext cx="45720" cy="2148840"/>
          </a:xfrm>
          <a:prstGeom prst="rect">
            <a:avLst/>
          </a:prstGeom>
          <a:solidFill>
            <a:srgbClr val="9B8AF3"/>
          </a:solidFill>
          <a:ln w="12700">
            <a:solidFill>
              <a:srgbClr val="9B8AF3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857232" y="2633472"/>
            <a:ext cx="420624" cy="420624"/>
          </a:xfrm>
          <a:prstGeom prst="ellipse">
            <a:avLst/>
          </a:prstGeom>
          <a:solidFill>
            <a:srgbClr val="9B8AF3"/>
          </a:solidFill>
          <a:ln w="10160">
            <a:solidFill>
              <a:srgbClr val="9B8AF3">
                <a:alpha val="0"/>
              </a:srgbClr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9857232" y="26289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5</a:t>
            </a:r>
            <a:endParaRPr lang="en-US" sz="1250" dirty="0"/>
          </a:p>
        </p:txBody>
      </p:sp>
      <p:sp>
        <p:nvSpPr>
          <p:cNvPr id="42" name="Text 40"/>
          <p:cNvSpPr txBox="1"/>
          <p:nvPr/>
        </p:nvSpPr>
        <p:spPr>
          <a:xfrm>
            <a:off x="9857232" y="320040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7152F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Remember</a:t>
            </a:r>
            <a:endParaRPr lang="en-US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9857232" y="3584448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5D596D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Workspace · notes · reminders · preferences</a:t>
            </a:r>
            <a:endParaRPr lang="en-US" sz="1030" dirty="0"/>
          </a:p>
        </p:txBody>
      </p:sp>
      <p:sp>
        <p:nvSpPr>
          <p:cNvPr id="44" name="Shape 42"/>
          <p:cNvSpPr/>
          <p:nvPr/>
        </p:nvSpPr>
        <p:spPr>
          <a:xfrm>
            <a:off x="566928" y="4800600"/>
            <a:ext cx="11064240" cy="841248"/>
          </a:xfrm>
          <a:prstGeom prst="roundRect">
            <a:avLst>
              <a:gd name="adj" fmla="val 14130"/>
            </a:avLst>
          </a:prstGeom>
          <a:solidFill>
            <a:srgbClr val="0E0D22"/>
          </a:solidFill>
          <a:ln w="12700">
            <a:solidFill>
              <a:srgbClr val="0E0D22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32104" y="5084064"/>
            <a:ext cx="164592" cy="164592"/>
          </a:xfrm>
          <a:prstGeom prst="ellipse">
            <a:avLst/>
          </a:prstGeom>
          <a:solidFill>
            <a:srgbClr val="6B57E8"/>
          </a:solidFill>
          <a:ln w="10160">
            <a:solidFill>
              <a:srgbClr val="6B57E8">
                <a:alpha val="0"/>
              </a:srgbClr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1106424" y="4956048"/>
            <a:ext cx="1508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0" b="1" spc="60" kern="0" dirty="0">
                <a:solidFill>
                  <a:srgbClr val="FFFFFF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USER APPROVAL</a:t>
            </a:r>
            <a:endParaRPr lang="en-US" sz="820" dirty="0"/>
          </a:p>
        </p:txBody>
      </p:sp>
      <p:sp>
        <p:nvSpPr>
          <p:cNvPr id="47" name="Text 45"/>
          <p:cNvSpPr txBox="1"/>
          <p:nvPr/>
        </p:nvSpPr>
        <p:spPr>
          <a:xfrm>
            <a:off x="1106424" y="518464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B9B5CA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before consequential actions</a:t>
            </a:r>
            <a:endParaRPr lang="en-US" sz="860" dirty="0"/>
          </a:p>
        </p:txBody>
      </p:sp>
      <p:sp>
        <p:nvSpPr>
          <p:cNvPr id="48" name="Shape 46"/>
          <p:cNvSpPr/>
          <p:nvPr/>
        </p:nvSpPr>
        <p:spPr>
          <a:xfrm>
            <a:off x="3529584" y="5084064"/>
            <a:ext cx="164592" cy="164592"/>
          </a:xfrm>
          <a:prstGeom prst="ellipse">
            <a:avLst/>
          </a:prstGeom>
          <a:solidFill>
            <a:srgbClr val="5BD6B0"/>
          </a:solidFill>
          <a:ln w="10160">
            <a:solidFill>
              <a:srgbClr val="5BD6B0">
                <a:alpha val="0"/>
              </a:srgbClr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3803904" y="4956048"/>
            <a:ext cx="1508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0" b="1" spc="60" kern="0" dirty="0">
                <a:solidFill>
                  <a:srgbClr val="FFFFFF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PRIVACY CONTROLS</a:t>
            </a:r>
            <a:endParaRPr lang="en-US" sz="820" dirty="0"/>
          </a:p>
        </p:txBody>
      </p:sp>
      <p:sp>
        <p:nvSpPr>
          <p:cNvPr id="50" name="Text 48"/>
          <p:cNvSpPr txBox="1"/>
          <p:nvPr/>
        </p:nvSpPr>
        <p:spPr>
          <a:xfrm>
            <a:off x="3803904" y="518464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B9B5CA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for screen and data access</a:t>
            </a:r>
            <a:endParaRPr lang="en-US" sz="860" dirty="0"/>
          </a:p>
        </p:txBody>
      </p:sp>
      <p:sp>
        <p:nvSpPr>
          <p:cNvPr id="51" name="Shape 49"/>
          <p:cNvSpPr/>
          <p:nvPr/>
        </p:nvSpPr>
        <p:spPr>
          <a:xfrm>
            <a:off x="6227064" y="5084064"/>
            <a:ext cx="164592" cy="164592"/>
          </a:xfrm>
          <a:prstGeom prst="ellipse">
            <a:avLst/>
          </a:prstGeom>
          <a:solidFill>
            <a:srgbClr val="51C6D9"/>
          </a:solidFill>
          <a:ln w="10160">
            <a:solidFill>
              <a:srgbClr val="51C6D9">
                <a:alpha val="0"/>
              </a:srgbClr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6501384" y="4956048"/>
            <a:ext cx="1508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0" b="1" spc="60" kern="0" dirty="0">
                <a:solidFill>
                  <a:srgbClr val="FFFFFF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LOCAL-FIRST MEMORY</a:t>
            </a:r>
            <a:endParaRPr lang="en-US" sz="820" dirty="0"/>
          </a:p>
        </p:txBody>
      </p:sp>
      <p:sp>
        <p:nvSpPr>
          <p:cNvPr id="53" name="Text 51"/>
          <p:cNvSpPr txBox="1"/>
          <p:nvPr/>
        </p:nvSpPr>
        <p:spPr>
          <a:xfrm>
            <a:off x="6501384" y="518464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B9B5CA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where practical</a:t>
            </a:r>
            <a:endParaRPr lang="en-US" sz="860" dirty="0"/>
          </a:p>
        </p:txBody>
      </p:sp>
      <p:sp>
        <p:nvSpPr>
          <p:cNvPr id="54" name="Shape 52"/>
          <p:cNvSpPr/>
          <p:nvPr/>
        </p:nvSpPr>
        <p:spPr>
          <a:xfrm>
            <a:off x="8924544" y="5084064"/>
            <a:ext cx="164592" cy="164592"/>
          </a:xfrm>
          <a:prstGeom prst="ellipse">
            <a:avLst/>
          </a:prstGeom>
          <a:solidFill>
            <a:srgbClr val="FF8074"/>
          </a:solidFill>
          <a:ln w="10160">
            <a:solidFill>
              <a:srgbClr val="FF8074">
                <a:alpha val="0"/>
              </a:srgbClr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9198864" y="4956048"/>
            <a:ext cx="150876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0" b="1" spc="60" kern="0" dirty="0">
                <a:solidFill>
                  <a:srgbClr val="FFFFFF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MODEL FLEXIBILITY</a:t>
            </a:r>
            <a:endParaRPr lang="en-US" sz="820" dirty="0"/>
          </a:p>
        </p:txBody>
      </p:sp>
      <p:sp>
        <p:nvSpPr>
          <p:cNvPr id="56" name="Text 54"/>
          <p:cNvSpPr txBox="1"/>
          <p:nvPr/>
        </p:nvSpPr>
        <p:spPr>
          <a:xfrm>
            <a:off x="9198864" y="518464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B9B5CA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avoids single-provider lock-in</a:t>
            </a:r>
            <a:endParaRPr lang="en-US" sz="86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56032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b="1" spc="70" kern="0" dirty="0">
                <a:solidFill>
                  <a:srgbClr val="0E0D22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AYO.</a:t>
            </a:r>
            <a:endParaRPr lang="en-US" sz="1550" dirty="0"/>
          </a:p>
        </p:txBody>
      </p:sp>
      <p:sp>
        <p:nvSpPr>
          <p:cNvPr id="3" name="Shape 1"/>
          <p:cNvSpPr/>
          <p:nvPr/>
        </p:nvSpPr>
        <p:spPr>
          <a:xfrm>
            <a:off x="502920" y="758952"/>
            <a:ext cx="1554480" cy="256032"/>
          </a:xfrm>
          <a:prstGeom prst="roundRect">
            <a:avLst>
              <a:gd name="adj" fmla="val 50000"/>
            </a:avLst>
          </a:prstGeom>
          <a:solidFill>
            <a:srgbClr val="ECE9FF"/>
          </a:solidFill>
          <a:ln w="12700">
            <a:solidFill>
              <a:srgbClr val="ECE9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76072" y="758952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10" b="1" spc="70" kern="0" dirty="0">
                <a:solidFill>
                  <a:srgbClr val="6B57E8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EXPERIENCE</a:t>
            </a:r>
            <a:endParaRPr lang="en-US" sz="81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133856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7152F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AYO turns everyday PC moments into outcomes.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636776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D596D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The product begins with high-frequency consumer and prosumer workflows, then expands into teams.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6437376"/>
            <a:ext cx="11183112" cy="0"/>
          </a:xfrm>
          <a:prstGeom prst="line">
            <a:avLst/>
          </a:prstGeom>
          <a:noFill/>
          <a:ln w="8890">
            <a:solidFill>
              <a:srgbClr val="DEDBE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6483096"/>
            <a:ext cx="3063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30" b="1" spc="70" kern="0" dirty="0">
                <a:solidFill>
                  <a:srgbClr val="8A8798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AYO  •  CONFIDENTIAL  •  SADU CAPITAL</a:t>
            </a:r>
            <a:endParaRPr lang="en-US" sz="730" dirty="0"/>
          </a:p>
        </p:txBody>
      </p:sp>
      <p:sp>
        <p:nvSpPr>
          <p:cNvPr id="9" name="Text 7"/>
          <p:cNvSpPr txBox="1"/>
          <p:nvPr/>
        </p:nvSpPr>
        <p:spPr>
          <a:xfrm>
            <a:off x="11274552" y="6469380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8A8798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05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530352" y="2267712"/>
            <a:ext cx="3502152" cy="1399032"/>
          </a:xfrm>
          <a:prstGeom prst="roundRect">
            <a:avLst>
              <a:gd name="adj" fmla="val 8497"/>
            </a:avLst>
          </a:prstGeom>
          <a:solidFill>
            <a:srgbClr val="FFFFFF"/>
          </a:solidFill>
          <a:ln w="12700">
            <a:solidFill>
              <a:srgbClr val="DEDBE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0352" y="2267712"/>
            <a:ext cx="45720" cy="1399032"/>
          </a:xfrm>
          <a:prstGeom prst="rect">
            <a:avLst/>
          </a:prstGeom>
          <a:solidFill>
            <a:srgbClr val="6B57E8"/>
          </a:solidFill>
          <a:ln w="12700">
            <a:solidFill>
              <a:srgbClr val="6B57E8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9808" y="2441448"/>
            <a:ext cx="749808" cy="256032"/>
          </a:xfrm>
          <a:prstGeom prst="roundRect">
            <a:avLst>
              <a:gd name="adj" fmla="val 50000"/>
            </a:avLst>
          </a:prstGeom>
          <a:solidFill>
            <a:srgbClr val="ECE9FF"/>
          </a:solidFill>
          <a:ln w="12700">
            <a:solidFill>
              <a:srgbClr val="ECE9FF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2441448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30" b="1" spc="70" kern="0" dirty="0">
                <a:solidFill>
                  <a:srgbClr val="6B57E8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LEARN</a:t>
            </a:r>
            <a:endParaRPr lang="en-US" sz="730" dirty="0"/>
          </a:p>
        </p:txBody>
      </p:sp>
      <p:sp>
        <p:nvSpPr>
          <p:cNvPr id="14" name="Text 12"/>
          <p:cNvSpPr txBox="1"/>
          <p:nvPr/>
        </p:nvSpPr>
        <p:spPr>
          <a:xfrm>
            <a:off x="749808" y="277063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30" b="1" dirty="0">
                <a:solidFill>
                  <a:srgbClr val="17152F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Understand what is on screen</a:t>
            </a:r>
            <a:endParaRPr lang="en-US" sz="1330" dirty="0"/>
          </a:p>
        </p:txBody>
      </p:sp>
      <p:sp>
        <p:nvSpPr>
          <p:cNvPr id="15" name="Text 13"/>
          <p:cNvSpPr txBox="1"/>
          <p:nvPr/>
        </p:nvSpPr>
        <p:spPr>
          <a:xfrm>
            <a:off x="749808" y="3118104"/>
            <a:ext cx="2962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40" dirty="0">
                <a:solidFill>
                  <a:srgbClr val="5D596D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Explain a Moodle page, summarize a PDF, build a study plan or turn course material into slides.</a:t>
            </a:r>
            <a:endParaRPr lang="en-US" sz="940" dirty="0"/>
          </a:p>
        </p:txBody>
      </p:sp>
      <p:sp>
        <p:nvSpPr>
          <p:cNvPr id="16" name="Shape 14"/>
          <p:cNvSpPr/>
          <p:nvPr/>
        </p:nvSpPr>
        <p:spPr>
          <a:xfrm>
            <a:off x="4297680" y="2267712"/>
            <a:ext cx="3502152" cy="1399032"/>
          </a:xfrm>
          <a:prstGeom prst="roundRect">
            <a:avLst>
              <a:gd name="adj" fmla="val 8497"/>
            </a:avLst>
          </a:prstGeom>
          <a:solidFill>
            <a:srgbClr val="FFFFFF"/>
          </a:solidFill>
          <a:ln w="12700">
            <a:solidFill>
              <a:srgbClr val="DEDBE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97680" y="2267712"/>
            <a:ext cx="45720" cy="1399032"/>
          </a:xfrm>
          <a:prstGeom prst="rect">
            <a:avLst/>
          </a:prstGeom>
          <a:solidFill>
            <a:srgbClr val="FF8074"/>
          </a:solidFill>
          <a:ln w="12700">
            <a:solidFill>
              <a:srgbClr val="FF8074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17136" y="2441448"/>
            <a:ext cx="749808" cy="256032"/>
          </a:xfrm>
          <a:prstGeom prst="roundRect">
            <a:avLst>
              <a:gd name="adj" fmla="val 50000"/>
            </a:avLst>
          </a:prstGeom>
          <a:solidFill>
            <a:srgbClr val="FFF0ED"/>
          </a:solidFill>
          <a:ln w="12700">
            <a:solidFill>
              <a:srgbClr val="FFF0ED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90288" y="2441448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30" b="1" spc="70" kern="0" dirty="0">
                <a:solidFill>
                  <a:srgbClr val="FF8074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CREATE</a:t>
            </a:r>
            <a:endParaRPr lang="en-US" sz="730" dirty="0"/>
          </a:p>
        </p:txBody>
      </p:sp>
      <p:sp>
        <p:nvSpPr>
          <p:cNvPr id="20" name="Text 18"/>
          <p:cNvSpPr txBox="1"/>
          <p:nvPr/>
        </p:nvSpPr>
        <p:spPr>
          <a:xfrm>
            <a:off x="4517136" y="277063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30" b="1" dirty="0">
                <a:solidFill>
                  <a:srgbClr val="17152F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Move from script to media</a:t>
            </a:r>
            <a:endParaRPr lang="en-US" sz="1330" dirty="0"/>
          </a:p>
        </p:txBody>
      </p:sp>
      <p:sp>
        <p:nvSpPr>
          <p:cNvPr id="21" name="Text 19"/>
          <p:cNvSpPr txBox="1"/>
          <p:nvPr/>
        </p:nvSpPr>
        <p:spPr>
          <a:xfrm>
            <a:off x="4517136" y="3118104"/>
            <a:ext cx="2962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40" dirty="0">
                <a:solidFill>
                  <a:srgbClr val="5D596D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Draft, storyboard and route a video request to target creative-generation tools.</a:t>
            </a:r>
            <a:endParaRPr lang="en-US" sz="940" dirty="0"/>
          </a:p>
        </p:txBody>
      </p:sp>
      <p:sp>
        <p:nvSpPr>
          <p:cNvPr id="22" name="Shape 20"/>
          <p:cNvSpPr/>
          <p:nvPr/>
        </p:nvSpPr>
        <p:spPr>
          <a:xfrm>
            <a:off x="8065008" y="2267712"/>
            <a:ext cx="3502152" cy="1399032"/>
          </a:xfrm>
          <a:prstGeom prst="roundRect">
            <a:avLst>
              <a:gd name="adj" fmla="val 8497"/>
            </a:avLst>
          </a:prstGeom>
          <a:solidFill>
            <a:srgbClr val="FFFFFF"/>
          </a:solidFill>
          <a:ln w="12700">
            <a:solidFill>
              <a:srgbClr val="DEDBE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65008" y="2267712"/>
            <a:ext cx="45720" cy="1399032"/>
          </a:xfrm>
          <a:prstGeom prst="rect">
            <a:avLst/>
          </a:prstGeom>
          <a:solidFill>
            <a:srgbClr val="5BD6B0"/>
          </a:solidFill>
          <a:ln w="12700">
            <a:solidFill>
              <a:srgbClr val="5BD6B0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84464" y="2441448"/>
            <a:ext cx="749808" cy="256032"/>
          </a:xfrm>
          <a:prstGeom prst="roundRect">
            <a:avLst>
              <a:gd name="adj" fmla="val 50000"/>
            </a:avLst>
          </a:prstGeom>
          <a:solidFill>
            <a:srgbClr val="E4F7F1"/>
          </a:solidFill>
          <a:ln w="12700">
            <a:solidFill>
              <a:srgbClr val="E4F7F1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357616" y="2441448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30" b="1" spc="70" kern="0" dirty="0">
                <a:solidFill>
                  <a:srgbClr val="5BD6B0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BUILD</a:t>
            </a:r>
            <a:endParaRPr lang="en-US" sz="730" dirty="0"/>
          </a:p>
        </p:txBody>
      </p:sp>
      <p:sp>
        <p:nvSpPr>
          <p:cNvPr id="26" name="Text 24"/>
          <p:cNvSpPr txBox="1"/>
          <p:nvPr/>
        </p:nvSpPr>
        <p:spPr>
          <a:xfrm>
            <a:off x="8284464" y="277063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30" b="1" dirty="0">
                <a:solidFill>
                  <a:srgbClr val="17152F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Turn an idea into software</a:t>
            </a:r>
            <a:endParaRPr lang="en-US" sz="1330" dirty="0"/>
          </a:p>
        </p:txBody>
      </p:sp>
      <p:sp>
        <p:nvSpPr>
          <p:cNvPr id="27" name="Text 25"/>
          <p:cNvSpPr txBox="1"/>
          <p:nvPr/>
        </p:nvSpPr>
        <p:spPr>
          <a:xfrm>
            <a:off x="8284464" y="3118104"/>
            <a:ext cx="2962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40" dirty="0">
                <a:solidFill>
                  <a:srgbClr val="5D596D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Translate intent into a site or app workflow through target development integrations.</a:t>
            </a:r>
            <a:endParaRPr lang="en-US" sz="940" dirty="0"/>
          </a:p>
        </p:txBody>
      </p:sp>
      <p:sp>
        <p:nvSpPr>
          <p:cNvPr id="28" name="Shape 26"/>
          <p:cNvSpPr/>
          <p:nvPr/>
        </p:nvSpPr>
        <p:spPr>
          <a:xfrm>
            <a:off x="530352" y="3941064"/>
            <a:ext cx="3502152" cy="1399032"/>
          </a:xfrm>
          <a:prstGeom prst="roundRect">
            <a:avLst>
              <a:gd name="adj" fmla="val 8497"/>
            </a:avLst>
          </a:prstGeom>
          <a:solidFill>
            <a:srgbClr val="FFFFFF"/>
          </a:solidFill>
          <a:ln w="12700">
            <a:solidFill>
              <a:srgbClr val="DEDBE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30352" y="3941064"/>
            <a:ext cx="45720" cy="1399032"/>
          </a:xfrm>
          <a:prstGeom prst="rect">
            <a:avLst/>
          </a:prstGeom>
          <a:solidFill>
            <a:srgbClr val="51C6D9"/>
          </a:solidFill>
          <a:ln w="12700">
            <a:solidFill>
              <a:srgbClr val="51C6D9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49808" y="4114800"/>
            <a:ext cx="749808" cy="256032"/>
          </a:xfrm>
          <a:prstGeom prst="roundRect">
            <a:avLst>
              <a:gd name="adj" fmla="val 50000"/>
            </a:avLst>
          </a:prstGeom>
          <a:solidFill>
            <a:srgbClr val="E7F6F8"/>
          </a:solidFill>
          <a:ln w="12700">
            <a:solidFill>
              <a:srgbClr val="E7F6F8">
                <a:alpha val="0"/>
              </a:srgbClr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22960" y="4114800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30" b="1" spc="70" kern="0" dirty="0">
                <a:solidFill>
                  <a:srgbClr val="51C6D9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WORK</a:t>
            </a:r>
            <a:endParaRPr lang="en-US" sz="730" dirty="0"/>
          </a:p>
        </p:txBody>
      </p:sp>
      <p:sp>
        <p:nvSpPr>
          <p:cNvPr id="32" name="Text 30"/>
          <p:cNvSpPr txBox="1"/>
          <p:nvPr/>
        </p:nvSpPr>
        <p:spPr>
          <a:xfrm>
            <a:off x="749808" y="444398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30" b="1" dirty="0">
                <a:solidFill>
                  <a:srgbClr val="17152F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Act across daily applications</a:t>
            </a:r>
            <a:endParaRPr lang="en-US" sz="1330" dirty="0"/>
          </a:p>
        </p:txBody>
      </p:sp>
      <p:sp>
        <p:nvSpPr>
          <p:cNvPr id="33" name="Text 31"/>
          <p:cNvSpPr txBox="1"/>
          <p:nvPr/>
        </p:nvSpPr>
        <p:spPr>
          <a:xfrm>
            <a:off x="749808" y="4791456"/>
            <a:ext cx="2962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40" dirty="0">
                <a:solidFill>
                  <a:srgbClr val="5D596D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Understand email and documents, draft responses, extract decisions and complete approved steps.</a:t>
            </a:r>
            <a:endParaRPr lang="en-US" sz="940" dirty="0"/>
          </a:p>
        </p:txBody>
      </p:sp>
      <p:sp>
        <p:nvSpPr>
          <p:cNvPr id="34" name="Shape 32"/>
          <p:cNvSpPr/>
          <p:nvPr/>
        </p:nvSpPr>
        <p:spPr>
          <a:xfrm>
            <a:off x="4297680" y="3941064"/>
            <a:ext cx="3502152" cy="1399032"/>
          </a:xfrm>
          <a:prstGeom prst="roundRect">
            <a:avLst>
              <a:gd name="adj" fmla="val 8497"/>
            </a:avLst>
          </a:prstGeom>
          <a:solidFill>
            <a:srgbClr val="FFFFFF"/>
          </a:solidFill>
          <a:ln w="12700">
            <a:solidFill>
              <a:srgbClr val="DEDBE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297680" y="3941064"/>
            <a:ext cx="45720" cy="1399032"/>
          </a:xfrm>
          <a:prstGeom prst="rect">
            <a:avLst/>
          </a:prstGeom>
          <a:solidFill>
            <a:srgbClr val="9B8AF3"/>
          </a:solidFill>
          <a:ln w="12700">
            <a:solidFill>
              <a:srgbClr val="9B8AF3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17136" y="4114800"/>
            <a:ext cx="749808" cy="256032"/>
          </a:xfrm>
          <a:prstGeom prst="roundRect">
            <a:avLst>
              <a:gd name="adj" fmla="val 50000"/>
            </a:avLst>
          </a:prstGeom>
          <a:solidFill>
            <a:srgbClr val="ECE9FF"/>
          </a:solidFill>
          <a:ln w="12700">
            <a:solidFill>
              <a:srgbClr val="ECE9FF">
                <a:alpha val="0"/>
              </a:srgbClr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590288" y="4114800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30" b="1" spc="70" kern="0" dirty="0">
                <a:solidFill>
                  <a:srgbClr val="9B8AF3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ORGANIZE</a:t>
            </a:r>
            <a:endParaRPr lang="en-US" sz="730" dirty="0"/>
          </a:p>
        </p:txBody>
      </p:sp>
      <p:sp>
        <p:nvSpPr>
          <p:cNvPr id="38" name="Text 36"/>
          <p:cNvSpPr txBox="1"/>
          <p:nvPr/>
        </p:nvSpPr>
        <p:spPr>
          <a:xfrm>
            <a:off x="4517136" y="444398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30" b="1" dirty="0">
                <a:solidFill>
                  <a:srgbClr val="17152F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Keep context across the day</a:t>
            </a:r>
            <a:endParaRPr lang="en-US" sz="1330" dirty="0"/>
          </a:p>
        </p:txBody>
      </p:sp>
      <p:sp>
        <p:nvSpPr>
          <p:cNvPr id="39" name="Text 37"/>
          <p:cNvSpPr txBox="1"/>
          <p:nvPr/>
        </p:nvSpPr>
        <p:spPr>
          <a:xfrm>
            <a:off x="4517136" y="4791456"/>
            <a:ext cx="2962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40" dirty="0">
                <a:solidFill>
                  <a:srgbClr val="5D596D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Files, notes, reminders, workspace memory and personal preferences stay connected.</a:t>
            </a:r>
            <a:endParaRPr lang="en-US" sz="940" dirty="0"/>
          </a:p>
        </p:txBody>
      </p:sp>
      <p:sp>
        <p:nvSpPr>
          <p:cNvPr id="40" name="Shape 38"/>
          <p:cNvSpPr/>
          <p:nvPr/>
        </p:nvSpPr>
        <p:spPr>
          <a:xfrm>
            <a:off x="8065008" y="3941064"/>
            <a:ext cx="3502152" cy="1399032"/>
          </a:xfrm>
          <a:prstGeom prst="roundRect">
            <a:avLst>
              <a:gd name="adj" fmla="val 8497"/>
            </a:avLst>
          </a:prstGeom>
          <a:solidFill>
            <a:srgbClr val="FFFFFF"/>
          </a:solidFill>
          <a:ln w="12700">
            <a:solidFill>
              <a:srgbClr val="DEDBE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065008" y="3941064"/>
            <a:ext cx="45720" cy="1399032"/>
          </a:xfrm>
          <a:prstGeom prst="rect">
            <a:avLst/>
          </a:prstGeom>
          <a:solidFill>
            <a:srgbClr val="FF8074"/>
          </a:solidFill>
          <a:ln w="12700">
            <a:solidFill>
              <a:srgbClr val="FF8074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284464" y="4114800"/>
            <a:ext cx="749808" cy="256032"/>
          </a:xfrm>
          <a:prstGeom prst="roundRect">
            <a:avLst>
              <a:gd name="adj" fmla="val 50000"/>
            </a:avLst>
          </a:prstGeom>
          <a:solidFill>
            <a:srgbClr val="FFF0ED"/>
          </a:solidFill>
          <a:ln w="12700">
            <a:solidFill>
              <a:srgbClr val="FFF0ED">
                <a:alpha val="0"/>
              </a:srgbClr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357616" y="4114800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30" b="1" spc="70" kern="0" dirty="0">
                <a:solidFill>
                  <a:srgbClr val="FF8074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PLAY</a:t>
            </a:r>
            <a:endParaRPr lang="en-US" sz="730" dirty="0"/>
          </a:p>
        </p:txBody>
      </p:sp>
      <p:sp>
        <p:nvSpPr>
          <p:cNvPr id="44" name="Text 42"/>
          <p:cNvSpPr txBox="1"/>
          <p:nvPr/>
        </p:nvSpPr>
        <p:spPr>
          <a:xfrm>
            <a:off x="8284464" y="444398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30" b="1" dirty="0">
                <a:solidFill>
                  <a:srgbClr val="17152F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A quiet companion for gaming</a:t>
            </a:r>
            <a:endParaRPr lang="en-US" sz="1330" dirty="0"/>
          </a:p>
        </p:txBody>
      </p:sp>
      <p:sp>
        <p:nvSpPr>
          <p:cNvPr id="45" name="Text 43"/>
          <p:cNvSpPr txBox="1"/>
          <p:nvPr/>
        </p:nvSpPr>
        <p:spPr>
          <a:xfrm>
            <a:off x="8284464" y="4791456"/>
            <a:ext cx="2962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40" dirty="0">
                <a:solidFill>
                  <a:srgbClr val="5D596D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Wake word or hotkey help, minimal HUD, short contextual answers and no forced app switching.</a:t>
            </a:r>
            <a:endParaRPr lang="en-US" sz="940" dirty="0"/>
          </a:p>
        </p:txBody>
      </p:sp>
      <p:sp>
        <p:nvSpPr>
          <p:cNvPr id="46" name="Text 44"/>
          <p:cNvSpPr txBox="1"/>
          <p:nvPr/>
        </p:nvSpPr>
        <p:spPr>
          <a:xfrm>
            <a:off x="566928" y="5715000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40" i="1" dirty="0">
                <a:solidFill>
                  <a:srgbClr val="8A8798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Roadmap examples reference target integrations and ecosystem partners under evaluation—not signed commercial partnerships.</a:t>
            </a:r>
            <a:endParaRPr lang="en-US" sz="84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56032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b="1" spc="70" kern="0" dirty="0">
                <a:solidFill>
                  <a:srgbClr val="FFFFFF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AYO.</a:t>
            </a:r>
            <a:endParaRPr lang="en-US" sz="1550" dirty="0"/>
          </a:p>
        </p:txBody>
      </p:sp>
      <p:sp>
        <p:nvSpPr>
          <p:cNvPr id="3" name="Shape 1"/>
          <p:cNvSpPr/>
          <p:nvPr/>
        </p:nvSpPr>
        <p:spPr>
          <a:xfrm>
            <a:off x="502920" y="758952"/>
            <a:ext cx="1266444" cy="256032"/>
          </a:xfrm>
          <a:prstGeom prst="roundRect">
            <a:avLst>
              <a:gd name="adj" fmla="val 50000"/>
            </a:avLst>
          </a:prstGeom>
          <a:solidFill>
            <a:srgbClr val="2B2750"/>
          </a:solidFill>
          <a:ln w="12700">
            <a:solidFill>
              <a:srgbClr val="2B2750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76072" y="758952"/>
            <a:ext cx="11201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10" b="1" spc="70" kern="0" dirty="0">
                <a:solidFill>
                  <a:srgbClr val="9B8AF3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WHY NOW</a:t>
            </a:r>
            <a:endParaRPr lang="en-US" sz="81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133856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The PC is becoming an AI-native surface.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636776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B9B5CA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Hardware, operating systems and AI agents are converging; the interaction layer is still open.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6437376"/>
            <a:ext cx="11183112" cy="0"/>
          </a:xfrm>
          <a:prstGeom prst="line">
            <a:avLst/>
          </a:prstGeom>
          <a:noFill/>
          <a:ln w="8890">
            <a:solidFill>
              <a:srgbClr val="29264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6483096"/>
            <a:ext cx="3063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30" b="1" spc="70" kern="0" dirty="0">
                <a:solidFill>
                  <a:srgbClr val="77738E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AYO  •  CONFIDENTIAL  •  SADU CAPITAL</a:t>
            </a:r>
            <a:endParaRPr lang="en-US" sz="730" dirty="0"/>
          </a:p>
        </p:txBody>
      </p:sp>
      <p:sp>
        <p:nvSpPr>
          <p:cNvPr id="9" name="Text 7"/>
          <p:cNvSpPr txBox="1"/>
          <p:nvPr/>
        </p:nvSpPr>
        <p:spPr>
          <a:xfrm>
            <a:off x="3611880" y="6469380"/>
            <a:ext cx="7223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660" dirty="0">
                <a:solidFill>
                  <a:srgbClr val="77738E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Sources: Microsoft Annual Reports; Gartner AI PC forecast (2025); Gartner PC shipments (2026)</a:t>
            </a:r>
            <a:endParaRPr lang="en-US" sz="660" dirty="0"/>
          </a:p>
        </p:txBody>
      </p:sp>
      <p:sp>
        <p:nvSpPr>
          <p:cNvPr id="10" name="Text 8"/>
          <p:cNvSpPr txBox="1"/>
          <p:nvPr/>
        </p:nvSpPr>
        <p:spPr>
          <a:xfrm>
            <a:off x="11274552" y="6469380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77738E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06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566928" y="2286000"/>
            <a:ext cx="3401568" cy="987552"/>
          </a:xfrm>
          <a:prstGeom prst="roundRect">
            <a:avLst>
              <a:gd name="adj" fmla="val 12037"/>
            </a:avLst>
          </a:prstGeom>
          <a:solidFill>
            <a:srgbClr val="17152F"/>
          </a:solidFill>
          <a:ln w="12700">
            <a:solidFill>
              <a:srgbClr val="2C294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" y="2286000"/>
            <a:ext cx="45720" cy="987552"/>
          </a:xfrm>
          <a:prstGeom prst="rect">
            <a:avLst/>
          </a:prstGeom>
          <a:solidFill>
            <a:srgbClr val="6B57E8"/>
          </a:solidFill>
          <a:ln w="12700">
            <a:solidFill>
              <a:srgbClr val="6B57E8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68096" y="2414016"/>
            <a:ext cx="305409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1.4B+</a:t>
            </a:r>
            <a:endParaRPr lang="en-US" sz="2500" dirty="0"/>
          </a:p>
        </p:txBody>
      </p:sp>
      <p:sp>
        <p:nvSpPr>
          <p:cNvPr id="14" name="Text 12"/>
          <p:cNvSpPr txBox="1"/>
          <p:nvPr/>
        </p:nvSpPr>
        <p:spPr>
          <a:xfrm>
            <a:off x="768096" y="2843784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B9B5CA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monthly active Windows 10/11 devices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398264" y="2286000"/>
            <a:ext cx="3401568" cy="987552"/>
          </a:xfrm>
          <a:prstGeom prst="roundRect">
            <a:avLst>
              <a:gd name="adj" fmla="val 12037"/>
            </a:avLst>
          </a:prstGeom>
          <a:solidFill>
            <a:srgbClr val="17152F"/>
          </a:solidFill>
          <a:ln w="12700">
            <a:solidFill>
              <a:srgbClr val="2C294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98264" y="2286000"/>
            <a:ext cx="45720" cy="987552"/>
          </a:xfrm>
          <a:prstGeom prst="rect">
            <a:avLst/>
          </a:prstGeom>
          <a:solidFill>
            <a:srgbClr val="5BD6B0"/>
          </a:solidFill>
          <a:ln w="12700">
            <a:solidFill>
              <a:srgbClr val="5BD6B0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99432" y="2414016"/>
            <a:ext cx="305409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55%</a:t>
            </a:r>
            <a:endParaRPr lang="en-US" sz="2500" dirty="0"/>
          </a:p>
        </p:txBody>
      </p:sp>
      <p:sp>
        <p:nvSpPr>
          <p:cNvPr id="18" name="Text 16"/>
          <p:cNvSpPr txBox="1"/>
          <p:nvPr/>
        </p:nvSpPr>
        <p:spPr>
          <a:xfrm>
            <a:off x="4599432" y="2843784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B9B5CA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of the 2026 PC market forecast to be AI PCs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229600" y="2286000"/>
            <a:ext cx="3401568" cy="987552"/>
          </a:xfrm>
          <a:prstGeom prst="roundRect">
            <a:avLst>
              <a:gd name="adj" fmla="val 12037"/>
            </a:avLst>
          </a:prstGeom>
          <a:solidFill>
            <a:srgbClr val="17152F"/>
          </a:solidFill>
          <a:ln w="12700">
            <a:solidFill>
              <a:srgbClr val="2C294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0" y="2286000"/>
            <a:ext cx="45720" cy="987552"/>
          </a:xfrm>
          <a:prstGeom prst="rect">
            <a:avLst/>
          </a:prstGeom>
          <a:solidFill>
            <a:srgbClr val="51C6D9"/>
          </a:solidFill>
          <a:ln w="12700">
            <a:solidFill>
              <a:srgbClr val="51C6D9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430768" y="2414016"/>
            <a:ext cx="305409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270M+</a:t>
            </a:r>
            <a:endParaRPr lang="en-US" sz="2500" dirty="0"/>
          </a:p>
        </p:txBody>
      </p:sp>
      <p:sp>
        <p:nvSpPr>
          <p:cNvPr id="22" name="Text 20"/>
          <p:cNvSpPr txBox="1"/>
          <p:nvPr/>
        </p:nvSpPr>
        <p:spPr>
          <a:xfrm>
            <a:off x="8430768" y="2843784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B9B5CA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worldwide PC shipments in 2025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66928" y="3584448"/>
            <a:ext cx="11064240" cy="1664208"/>
          </a:xfrm>
          <a:prstGeom prst="roundRect">
            <a:avLst>
              <a:gd name="adj" fmla="val 7143"/>
            </a:avLst>
          </a:prstGeom>
          <a:solidFill>
            <a:srgbClr val="17152F"/>
          </a:solidFill>
          <a:ln w="12700">
            <a:solidFill>
              <a:srgbClr val="2C294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41248" y="3840480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40" b="1" spc="80" kern="0" dirty="0">
                <a:solidFill>
                  <a:srgbClr val="9B8AF3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CATEGORY VALIDATION</a:t>
            </a:r>
            <a:endParaRPr lang="en-US" sz="840" dirty="0"/>
          </a:p>
        </p:txBody>
      </p:sp>
      <p:sp>
        <p:nvSpPr>
          <p:cNvPr id="25" name="Shape 23"/>
          <p:cNvSpPr/>
          <p:nvPr/>
        </p:nvSpPr>
        <p:spPr>
          <a:xfrm>
            <a:off x="841248" y="4315968"/>
            <a:ext cx="201168" cy="201168"/>
          </a:xfrm>
          <a:prstGeom prst="ellipse">
            <a:avLst/>
          </a:prstGeom>
          <a:solidFill>
            <a:srgbClr val="6B57E8"/>
          </a:solidFill>
          <a:ln w="10160">
            <a:solidFill>
              <a:srgbClr val="6B57E8">
                <a:alpha val="0"/>
              </a:srgbClr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133856" y="4197096"/>
            <a:ext cx="1143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30" b="1" dirty="0">
                <a:solidFill>
                  <a:srgbClr val="FFFFFF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Microsoft</a:t>
            </a:r>
            <a:endParaRPr lang="en-US" sz="1130" dirty="0"/>
          </a:p>
        </p:txBody>
      </p:sp>
      <p:sp>
        <p:nvSpPr>
          <p:cNvPr id="27" name="Text 25"/>
          <p:cNvSpPr txBox="1"/>
          <p:nvPr/>
        </p:nvSpPr>
        <p:spPr>
          <a:xfrm>
            <a:off x="1133856" y="4489704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B9B5CA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Vision + computer-using agents</a:t>
            </a:r>
            <a:endParaRPr lang="en-US" sz="930" dirty="0"/>
          </a:p>
        </p:txBody>
      </p:sp>
      <p:sp>
        <p:nvSpPr>
          <p:cNvPr id="28" name="Shape 26"/>
          <p:cNvSpPr/>
          <p:nvPr/>
        </p:nvSpPr>
        <p:spPr>
          <a:xfrm>
            <a:off x="3502152" y="4315968"/>
            <a:ext cx="201168" cy="201168"/>
          </a:xfrm>
          <a:prstGeom prst="ellipse">
            <a:avLst/>
          </a:prstGeom>
          <a:solidFill>
            <a:srgbClr val="FF8074"/>
          </a:solidFill>
          <a:ln w="10160">
            <a:solidFill>
              <a:srgbClr val="FF8074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794760" y="4197096"/>
            <a:ext cx="1143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30" b="1" dirty="0">
                <a:solidFill>
                  <a:srgbClr val="FFFFFF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OpenAI</a:t>
            </a:r>
            <a:endParaRPr lang="en-US" sz="1130" dirty="0"/>
          </a:p>
        </p:txBody>
      </p:sp>
      <p:sp>
        <p:nvSpPr>
          <p:cNvPr id="30" name="Text 28"/>
          <p:cNvSpPr txBox="1"/>
          <p:nvPr/>
        </p:nvSpPr>
        <p:spPr>
          <a:xfrm>
            <a:off x="3794760" y="4489704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B9B5CA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desktop context + computer use</a:t>
            </a:r>
            <a:endParaRPr lang="en-US" sz="930" dirty="0"/>
          </a:p>
        </p:txBody>
      </p:sp>
      <p:sp>
        <p:nvSpPr>
          <p:cNvPr id="31" name="Shape 29"/>
          <p:cNvSpPr/>
          <p:nvPr/>
        </p:nvSpPr>
        <p:spPr>
          <a:xfrm>
            <a:off x="6163056" y="4315968"/>
            <a:ext cx="201168" cy="201168"/>
          </a:xfrm>
          <a:prstGeom prst="ellipse">
            <a:avLst/>
          </a:prstGeom>
          <a:solidFill>
            <a:srgbClr val="5BD6B0"/>
          </a:solidFill>
          <a:ln w="10160">
            <a:solidFill>
              <a:srgbClr val="5BD6B0">
                <a:alpha val="0"/>
              </a:srgb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455664" y="4197096"/>
            <a:ext cx="1143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30" b="1" dirty="0">
                <a:solidFill>
                  <a:srgbClr val="FFFFFF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Raycast</a:t>
            </a:r>
            <a:endParaRPr lang="en-US" sz="1130" dirty="0"/>
          </a:p>
        </p:txBody>
      </p:sp>
      <p:sp>
        <p:nvSpPr>
          <p:cNvPr id="33" name="Text 31"/>
          <p:cNvSpPr txBox="1"/>
          <p:nvPr/>
        </p:nvSpPr>
        <p:spPr>
          <a:xfrm>
            <a:off x="6455664" y="4489704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B9B5CA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AI across the operating system</a:t>
            </a:r>
            <a:endParaRPr lang="en-US" sz="930" dirty="0"/>
          </a:p>
        </p:txBody>
      </p:sp>
      <p:sp>
        <p:nvSpPr>
          <p:cNvPr id="34" name="Shape 32"/>
          <p:cNvSpPr/>
          <p:nvPr/>
        </p:nvSpPr>
        <p:spPr>
          <a:xfrm>
            <a:off x="8823960" y="4315968"/>
            <a:ext cx="201168" cy="201168"/>
          </a:xfrm>
          <a:prstGeom prst="ellipse">
            <a:avLst/>
          </a:prstGeom>
          <a:solidFill>
            <a:srgbClr val="51C6D9"/>
          </a:solidFill>
          <a:ln w="10160">
            <a:solidFill>
              <a:srgbClr val="51C6D9">
                <a:alpha val="0"/>
              </a:srgbClr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116568" y="4197096"/>
            <a:ext cx="1143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30" b="1" dirty="0">
                <a:solidFill>
                  <a:srgbClr val="FFFFFF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Cluely</a:t>
            </a:r>
            <a:endParaRPr lang="en-US" sz="1130" dirty="0"/>
          </a:p>
        </p:txBody>
      </p:sp>
      <p:sp>
        <p:nvSpPr>
          <p:cNvPr id="36" name="Text 34"/>
          <p:cNvSpPr txBox="1"/>
          <p:nvPr/>
        </p:nvSpPr>
        <p:spPr>
          <a:xfrm>
            <a:off x="9116568" y="4489704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30" dirty="0">
                <a:solidFill>
                  <a:srgbClr val="B9B5CA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real-time contextual overlay</a:t>
            </a:r>
            <a:endParaRPr lang="en-US" sz="930" dirty="0"/>
          </a:p>
        </p:txBody>
      </p:sp>
      <p:sp>
        <p:nvSpPr>
          <p:cNvPr id="37" name="Text 35"/>
          <p:cNvSpPr txBox="1"/>
          <p:nvPr/>
        </p:nvSpPr>
        <p:spPr>
          <a:xfrm>
            <a:off x="841248" y="532180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5BD6B0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AYO is built for the transition: an independent, model-flexible companion that can win on interaction, localization and workflow depth.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56032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b="1" spc="70" kern="0" dirty="0">
                <a:solidFill>
                  <a:srgbClr val="0E0D22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AYO.</a:t>
            </a:r>
            <a:endParaRPr lang="en-US" sz="1550" dirty="0"/>
          </a:p>
        </p:txBody>
      </p:sp>
      <p:sp>
        <p:nvSpPr>
          <p:cNvPr id="3" name="Shape 1"/>
          <p:cNvSpPr/>
          <p:nvPr/>
        </p:nvSpPr>
        <p:spPr>
          <a:xfrm>
            <a:off x="502920" y="758952"/>
            <a:ext cx="1170432" cy="256032"/>
          </a:xfrm>
          <a:prstGeom prst="roundRect">
            <a:avLst>
              <a:gd name="adj" fmla="val 50000"/>
            </a:avLst>
          </a:prstGeom>
          <a:solidFill>
            <a:srgbClr val="ECE9FF"/>
          </a:solidFill>
          <a:ln w="12700">
            <a:solidFill>
              <a:srgbClr val="ECE9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76072" y="758952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10" b="1" spc="70" kern="0" dirty="0">
                <a:solidFill>
                  <a:srgbClr val="6B57E8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MARKET</a:t>
            </a:r>
            <a:endParaRPr lang="en-US" sz="81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133856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7152F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A massive installed base; a focused path into it.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636776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D596D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Bottom-up sizing converts the Windows universe into a practical paid-user objective.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6437376"/>
            <a:ext cx="11183112" cy="0"/>
          </a:xfrm>
          <a:prstGeom prst="line">
            <a:avLst/>
          </a:prstGeom>
          <a:noFill/>
          <a:ln w="8890">
            <a:solidFill>
              <a:srgbClr val="DEDBE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6483096"/>
            <a:ext cx="3063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30" b="1" spc="70" kern="0" dirty="0">
                <a:solidFill>
                  <a:srgbClr val="8A8798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AYO  •  CONFIDENTIAL  •  SADU CAPITAL</a:t>
            </a:r>
            <a:endParaRPr lang="en-US" sz="730" dirty="0"/>
          </a:p>
        </p:txBody>
      </p:sp>
      <p:sp>
        <p:nvSpPr>
          <p:cNvPr id="9" name="Text 7"/>
          <p:cNvSpPr txBox="1"/>
          <p:nvPr/>
        </p:nvSpPr>
        <p:spPr>
          <a:xfrm>
            <a:off x="3611880" y="6469380"/>
            <a:ext cx="7223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660" dirty="0">
                <a:solidFill>
                  <a:srgbClr val="8A8798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Windows installed base: Microsoft. SAM and SOM are AYO management estimates.</a:t>
            </a:r>
            <a:endParaRPr lang="en-US" sz="660" dirty="0"/>
          </a:p>
        </p:txBody>
      </p:sp>
      <p:sp>
        <p:nvSpPr>
          <p:cNvPr id="10" name="Text 8"/>
          <p:cNvSpPr txBox="1"/>
          <p:nvPr/>
        </p:nvSpPr>
        <p:spPr>
          <a:xfrm>
            <a:off x="11274552" y="6469380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8A8798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07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777240" y="2148840"/>
            <a:ext cx="3456432" cy="3456432"/>
          </a:xfrm>
          <a:prstGeom prst="ellipse">
            <a:avLst/>
          </a:prstGeom>
          <a:solidFill>
            <a:srgbClr val="ECE9FF"/>
          </a:solidFill>
          <a:ln w="15240">
            <a:solidFill>
              <a:srgbClr val="6B57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35024" y="2706624"/>
            <a:ext cx="2340864" cy="2340864"/>
          </a:xfrm>
          <a:prstGeom prst="ellipse">
            <a:avLst/>
          </a:prstGeom>
          <a:solidFill>
            <a:srgbClr val="E4F7F1"/>
          </a:solidFill>
          <a:ln w="15240">
            <a:solidFill>
              <a:srgbClr val="5BD6B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865376" y="3236976"/>
            <a:ext cx="1280160" cy="1280160"/>
          </a:xfrm>
          <a:prstGeom prst="ellipse">
            <a:avLst/>
          </a:prstGeom>
          <a:solidFill>
            <a:srgbClr val="0E0D22"/>
          </a:solidFill>
          <a:ln w="10160">
            <a:solidFill>
              <a:srgbClr val="0E0D22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32688" y="235915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80" kern="0" dirty="0">
                <a:solidFill>
                  <a:srgbClr val="6B57E8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TAM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554480" y="292608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spc="80" kern="0" dirty="0">
                <a:solidFill>
                  <a:srgbClr val="5BD6B0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SAM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2103120" y="3493008"/>
            <a:ext cx="786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spc="80" kern="0" dirty="0">
                <a:solidFill>
                  <a:srgbClr val="FFFFFF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SOM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484632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17152F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$168B</a:t>
            </a:r>
            <a:endParaRPr lang="en-US" sz="27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5212080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D596D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bottom-up annual TAM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617720" y="2203704"/>
            <a:ext cx="6995160" cy="932688"/>
          </a:xfrm>
          <a:prstGeom prst="roundRect">
            <a:avLst>
              <a:gd name="adj" fmla="val 12745"/>
            </a:avLst>
          </a:prstGeom>
          <a:solidFill>
            <a:srgbClr val="FFFFFF"/>
          </a:solidFill>
          <a:ln w="12700">
            <a:solidFill>
              <a:srgbClr val="DEDBE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17720" y="2203704"/>
            <a:ext cx="45720" cy="932688"/>
          </a:xfrm>
          <a:prstGeom prst="rect">
            <a:avLst/>
          </a:prstGeom>
          <a:solidFill>
            <a:srgbClr val="6B57E8"/>
          </a:solidFill>
          <a:ln w="12700">
            <a:solidFill>
              <a:srgbClr val="6B57E8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82896" y="2386584"/>
            <a:ext cx="566928" cy="256032"/>
          </a:xfrm>
          <a:prstGeom prst="roundRect">
            <a:avLst>
              <a:gd name="adj" fmla="val 50000"/>
            </a:avLst>
          </a:prstGeom>
          <a:solidFill>
            <a:srgbClr val="ECE9FF"/>
          </a:solidFill>
          <a:ln w="12700">
            <a:solidFill>
              <a:srgbClr val="ECE9FF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956048" y="2386584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b="1" spc="70" kern="0" dirty="0">
                <a:solidFill>
                  <a:srgbClr val="6B57E8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TAM</a:t>
            </a:r>
            <a:endParaRPr lang="en-US" sz="750" dirty="0"/>
          </a:p>
        </p:txBody>
      </p:sp>
      <p:sp>
        <p:nvSpPr>
          <p:cNvPr id="23" name="Text 21"/>
          <p:cNvSpPr txBox="1"/>
          <p:nvPr/>
        </p:nvSpPr>
        <p:spPr>
          <a:xfrm>
            <a:off x="5650992" y="2331720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7152F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$168B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7242048" y="2340864"/>
            <a:ext cx="3639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40" b="1" dirty="0">
                <a:solidFill>
                  <a:srgbClr val="5D596D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1.4B Windows devices × $120 / year</a:t>
            </a:r>
            <a:endParaRPr lang="en-US" sz="1040" dirty="0"/>
          </a:p>
        </p:txBody>
      </p:sp>
      <p:sp>
        <p:nvSpPr>
          <p:cNvPr id="25" name="Text 23"/>
          <p:cNvSpPr txBox="1"/>
          <p:nvPr/>
        </p:nvSpPr>
        <p:spPr>
          <a:xfrm>
            <a:off x="7242048" y="2670048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8A8798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Global Windows software spend opportunity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4617720" y="3319272"/>
            <a:ext cx="6995160" cy="932688"/>
          </a:xfrm>
          <a:prstGeom prst="roundRect">
            <a:avLst>
              <a:gd name="adj" fmla="val 12745"/>
            </a:avLst>
          </a:prstGeom>
          <a:solidFill>
            <a:srgbClr val="FFFFFF"/>
          </a:solidFill>
          <a:ln w="12700">
            <a:solidFill>
              <a:srgbClr val="DEDBE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17720" y="3319272"/>
            <a:ext cx="45720" cy="932688"/>
          </a:xfrm>
          <a:prstGeom prst="rect">
            <a:avLst/>
          </a:prstGeom>
          <a:solidFill>
            <a:srgbClr val="5BD6B0"/>
          </a:solidFill>
          <a:ln w="12700">
            <a:solidFill>
              <a:srgbClr val="5BD6B0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82896" y="3502152"/>
            <a:ext cx="566928" cy="256032"/>
          </a:xfrm>
          <a:prstGeom prst="roundRect">
            <a:avLst>
              <a:gd name="adj" fmla="val 50000"/>
            </a:avLst>
          </a:prstGeom>
          <a:solidFill>
            <a:srgbClr val="E4F7F1"/>
          </a:solidFill>
          <a:ln w="12700">
            <a:solidFill>
              <a:srgbClr val="E4F7F1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956048" y="3502152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b="1" spc="70" kern="0" dirty="0">
                <a:solidFill>
                  <a:srgbClr val="5BD6B0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SAM</a:t>
            </a:r>
            <a:endParaRPr lang="en-US" sz="750" dirty="0"/>
          </a:p>
        </p:txBody>
      </p:sp>
      <p:sp>
        <p:nvSpPr>
          <p:cNvPr id="30" name="Text 28"/>
          <p:cNvSpPr txBox="1"/>
          <p:nvPr/>
        </p:nvSpPr>
        <p:spPr>
          <a:xfrm>
            <a:off x="5650992" y="3447288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7152F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$12B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7242048" y="3456432"/>
            <a:ext cx="3639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40" b="1" dirty="0">
                <a:solidFill>
                  <a:srgbClr val="5D596D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100M high-intent users × $120 / year</a:t>
            </a:r>
            <a:endParaRPr lang="en-US" sz="1040" dirty="0"/>
          </a:p>
        </p:txBody>
      </p:sp>
      <p:sp>
        <p:nvSpPr>
          <p:cNvPr id="32" name="Text 30"/>
          <p:cNvSpPr txBox="1"/>
          <p:nvPr/>
        </p:nvSpPr>
        <p:spPr>
          <a:xfrm>
            <a:off x="7242048" y="3785616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8A8798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Students, creators, developers, gamers and knowledge workers</a:t>
            </a:r>
            <a:endParaRPr lang="en-US" sz="880" dirty="0"/>
          </a:p>
        </p:txBody>
      </p:sp>
      <p:sp>
        <p:nvSpPr>
          <p:cNvPr id="33" name="Shape 31"/>
          <p:cNvSpPr/>
          <p:nvPr/>
        </p:nvSpPr>
        <p:spPr>
          <a:xfrm>
            <a:off x="4617720" y="4434840"/>
            <a:ext cx="6995160" cy="932688"/>
          </a:xfrm>
          <a:prstGeom prst="roundRect">
            <a:avLst>
              <a:gd name="adj" fmla="val 12745"/>
            </a:avLst>
          </a:prstGeom>
          <a:solidFill>
            <a:srgbClr val="FFFFFF"/>
          </a:solidFill>
          <a:ln w="12700">
            <a:solidFill>
              <a:srgbClr val="DEDBE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17720" y="4434840"/>
            <a:ext cx="45720" cy="932688"/>
          </a:xfrm>
          <a:prstGeom prst="rect">
            <a:avLst/>
          </a:prstGeom>
          <a:solidFill>
            <a:srgbClr val="FF8074"/>
          </a:solidFill>
          <a:ln w="12700">
            <a:solidFill>
              <a:srgbClr val="FF8074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82896" y="4617720"/>
            <a:ext cx="566928" cy="256032"/>
          </a:xfrm>
          <a:prstGeom prst="roundRect">
            <a:avLst>
              <a:gd name="adj" fmla="val 50000"/>
            </a:avLst>
          </a:prstGeom>
          <a:solidFill>
            <a:srgbClr val="FFF0ED"/>
          </a:solidFill>
          <a:ln w="12700">
            <a:solidFill>
              <a:srgbClr val="FFF0ED">
                <a:alpha val="0"/>
              </a:srgbClr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956048" y="4617720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b="1" spc="70" kern="0" dirty="0">
                <a:solidFill>
                  <a:srgbClr val="FF8074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SOM</a:t>
            </a:r>
            <a:endParaRPr lang="en-US" sz="750" dirty="0"/>
          </a:p>
        </p:txBody>
      </p:sp>
      <p:sp>
        <p:nvSpPr>
          <p:cNvPr id="37" name="Text 35"/>
          <p:cNvSpPr txBox="1"/>
          <p:nvPr/>
        </p:nvSpPr>
        <p:spPr>
          <a:xfrm>
            <a:off x="5650992" y="4562856"/>
            <a:ext cx="1508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7152F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$10.5M ARR</a:t>
            </a:r>
            <a:endParaRPr lang="en-US" sz="2000" dirty="0"/>
          </a:p>
        </p:txBody>
      </p:sp>
      <p:sp>
        <p:nvSpPr>
          <p:cNvPr id="38" name="Text 36"/>
          <p:cNvSpPr txBox="1"/>
          <p:nvPr/>
        </p:nvSpPr>
        <p:spPr>
          <a:xfrm>
            <a:off x="7242048" y="4572000"/>
            <a:ext cx="3639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40" b="1" dirty="0">
                <a:solidFill>
                  <a:srgbClr val="5D596D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50K paid users × $17.49 × 12</a:t>
            </a:r>
            <a:endParaRPr lang="en-US" sz="1040" dirty="0"/>
          </a:p>
        </p:txBody>
      </p:sp>
      <p:sp>
        <p:nvSpPr>
          <p:cNvPr id="39" name="Text 37"/>
          <p:cNvSpPr txBox="1"/>
          <p:nvPr/>
        </p:nvSpPr>
        <p:spPr>
          <a:xfrm>
            <a:off x="7242048" y="4901184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8A8798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Five-year management objective; ~0.05% of the estimated SAM</a:t>
            </a:r>
            <a:endParaRPr lang="en-US" sz="880" dirty="0"/>
          </a:p>
        </p:txBody>
      </p:sp>
      <p:sp>
        <p:nvSpPr>
          <p:cNvPr id="40" name="Text 38"/>
          <p:cNvSpPr txBox="1"/>
          <p:nvPr/>
        </p:nvSpPr>
        <p:spPr>
          <a:xfrm>
            <a:off x="4636008" y="5596128"/>
            <a:ext cx="6903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50" i="1" dirty="0">
                <a:solidFill>
                  <a:srgbClr val="8A8798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Sizing is intentionally bottom-up. It is a planning framework—not a third-party market forecast.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56032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b="1" spc="70" kern="0" dirty="0">
                <a:solidFill>
                  <a:srgbClr val="FFFFFF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AYO.</a:t>
            </a:r>
            <a:endParaRPr lang="en-US" sz="1550" dirty="0"/>
          </a:p>
        </p:txBody>
      </p:sp>
      <p:sp>
        <p:nvSpPr>
          <p:cNvPr id="3" name="Shape 1"/>
          <p:cNvSpPr/>
          <p:nvPr/>
        </p:nvSpPr>
        <p:spPr>
          <a:xfrm>
            <a:off x="502920" y="758952"/>
            <a:ext cx="1362456" cy="256032"/>
          </a:xfrm>
          <a:prstGeom prst="roundRect">
            <a:avLst>
              <a:gd name="adj" fmla="val 50000"/>
            </a:avLst>
          </a:prstGeom>
          <a:solidFill>
            <a:srgbClr val="2B2750"/>
          </a:solidFill>
          <a:ln w="12700">
            <a:solidFill>
              <a:srgbClr val="2B2750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76072" y="758952"/>
            <a:ext cx="1216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10" b="1" spc="70" kern="0" dirty="0">
                <a:solidFill>
                  <a:srgbClr val="9B8AF3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TRACTION</a:t>
            </a:r>
            <a:endParaRPr lang="en-US" sz="81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133856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Early demand—and a five-month plan to prove retention.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636776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B9B5CA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AYO has market signal, early willingness to pay and a focused evidence program.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6437376"/>
            <a:ext cx="11183112" cy="0"/>
          </a:xfrm>
          <a:prstGeom prst="line">
            <a:avLst/>
          </a:prstGeom>
          <a:noFill/>
          <a:ln w="8890">
            <a:solidFill>
              <a:srgbClr val="29264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6483096"/>
            <a:ext cx="3063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30" b="1" spc="70" kern="0" dirty="0">
                <a:solidFill>
                  <a:srgbClr val="77738E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AYO  •  CONFIDENTIAL  •  SADU CAPITAL</a:t>
            </a:r>
            <a:endParaRPr lang="en-US" sz="730" dirty="0"/>
          </a:p>
        </p:txBody>
      </p:sp>
      <p:sp>
        <p:nvSpPr>
          <p:cNvPr id="9" name="Text 7"/>
          <p:cNvSpPr txBox="1"/>
          <p:nvPr/>
        </p:nvSpPr>
        <p:spPr>
          <a:xfrm>
            <a:off x="3611880" y="6469380"/>
            <a:ext cx="7223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660" dirty="0">
                <a:solidFill>
                  <a:srgbClr val="77738E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Source: AYO management data and current financing documents, August 2026.</a:t>
            </a:r>
            <a:endParaRPr lang="en-US" sz="660" dirty="0"/>
          </a:p>
        </p:txBody>
      </p:sp>
      <p:sp>
        <p:nvSpPr>
          <p:cNvPr id="10" name="Text 8"/>
          <p:cNvSpPr txBox="1"/>
          <p:nvPr/>
        </p:nvSpPr>
        <p:spPr>
          <a:xfrm>
            <a:off x="11274552" y="6469380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77738E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08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566928" y="2240280"/>
            <a:ext cx="2542032" cy="987552"/>
          </a:xfrm>
          <a:prstGeom prst="roundRect">
            <a:avLst>
              <a:gd name="adj" fmla="val 12037"/>
            </a:avLst>
          </a:prstGeom>
          <a:solidFill>
            <a:srgbClr val="17152F"/>
          </a:solidFill>
          <a:ln w="12700">
            <a:solidFill>
              <a:srgbClr val="2C294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" y="2240280"/>
            <a:ext cx="45720" cy="987552"/>
          </a:xfrm>
          <a:prstGeom prst="rect">
            <a:avLst/>
          </a:prstGeom>
          <a:solidFill>
            <a:srgbClr val="6B57E8"/>
          </a:solidFill>
          <a:ln w="12700">
            <a:solidFill>
              <a:srgbClr val="6B57E8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68096" y="2368296"/>
            <a:ext cx="21945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1,130+</a:t>
            </a:r>
            <a:endParaRPr lang="en-US" sz="2500" dirty="0"/>
          </a:p>
        </p:txBody>
      </p:sp>
      <p:sp>
        <p:nvSpPr>
          <p:cNvPr id="14" name="Text 12"/>
          <p:cNvSpPr txBox="1"/>
          <p:nvPr/>
        </p:nvSpPr>
        <p:spPr>
          <a:xfrm>
            <a:off x="768096" y="279806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B9B5CA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people on the waitlist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410712" y="2240280"/>
            <a:ext cx="2542032" cy="987552"/>
          </a:xfrm>
          <a:prstGeom prst="roundRect">
            <a:avLst>
              <a:gd name="adj" fmla="val 12037"/>
            </a:avLst>
          </a:prstGeom>
          <a:solidFill>
            <a:srgbClr val="17152F"/>
          </a:solidFill>
          <a:ln w="12700">
            <a:solidFill>
              <a:srgbClr val="2C294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10712" y="2240280"/>
            <a:ext cx="45720" cy="987552"/>
          </a:xfrm>
          <a:prstGeom prst="rect">
            <a:avLst/>
          </a:prstGeom>
          <a:solidFill>
            <a:srgbClr val="51C6D9"/>
          </a:solidFill>
          <a:ln w="12700">
            <a:solidFill>
              <a:srgbClr val="51C6D9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611880" y="2368296"/>
            <a:ext cx="21945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180K+</a:t>
            </a:r>
            <a:endParaRPr lang="en-US" sz="2500" dirty="0"/>
          </a:p>
        </p:txBody>
      </p:sp>
      <p:sp>
        <p:nvSpPr>
          <p:cNvPr id="18" name="Text 16"/>
          <p:cNvSpPr txBox="1"/>
          <p:nvPr/>
        </p:nvSpPr>
        <p:spPr>
          <a:xfrm>
            <a:off x="3611880" y="279806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B9B5CA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organic views / impressions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54496" y="2240280"/>
            <a:ext cx="2542032" cy="987552"/>
          </a:xfrm>
          <a:prstGeom prst="roundRect">
            <a:avLst>
              <a:gd name="adj" fmla="val 12037"/>
            </a:avLst>
          </a:prstGeom>
          <a:solidFill>
            <a:srgbClr val="17152F"/>
          </a:solidFill>
          <a:ln w="12700">
            <a:solidFill>
              <a:srgbClr val="2C294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54496" y="2240280"/>
            <a:ext cx="45720" cy="987552"/>
          </a:xfrm>
          <a:prstGeom prst="rect">
            <a:avLst/>
          </a:prstGeom>
          <a:solidFill>
            <a:srgbClr val="5BD6B0"/>
          </a:solidFill>
          <a:ln w="12700">
            <a:solidFill>
              <a:srgbClr val="5BD6B0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55664" y="2368296"/>
            <a:ext cx="21945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15</a:t>
            </a:r>
            <a:endParaRPr lang="en-US" sz="2500" dirty="0"/>
          </a:p>
        </p:txBody>
      </p:sp>
      <p:sp>
        <p:nvSpPr>
          <p:cNvPr id="22" name="Text 20"/>
          <p:cNvSpPr txBox="1"/>
          <p:nvPr/>
        </p:nvSpPr>
        <p:spPr>
          <a:xfrm>
            <a:off x="6455664" y="279806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B9B5CA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customer interviews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098280" y="2240280"/>
            <a:ext cx="2542032" cy="987552"/>
          </a:xfrm>
          <a:prstGeom prst="roundRect">
            <a:avLst>
              <a:gd name="adj" fmla="val 12037"/>
            </a:avLst>
          </a:prstGeom>
          <a:solidFill>
            <a:srgbClr val="17152F"/>
          </a:solidFill>
          <a:ln w="12700">
            <a:solidFill>
              <a:srgbClr val="2C294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098280" y="2240280"/>
            <a:ext cx="45720" cy="987552"/>
          </a:xfrm>
          <a:prstGeom prst="rect">
            <a:avLst/>
          </a:prstGeom>
          <a:solidFill>
            <a:srgbClr val="FF8074"/>
          </a:solidFill>
          <a:ln w="12700">
            <a:solidFill>
              <a:srgbClr val="FF8074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299448" y="2368296"/>
            <a:ext cx="21945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2</a:t>
            </a:r>
            <a:endParaRPr lang="en-US" sz="2500" dirty="0"/>
          </a:p>
        </p:txBody>
      </p:sp>
      <p:sp>
        <p:nvSpPr>
          <p:cNvPr id="26" name="Text 24"/>
          <p:cNvSpPr txBox="1"/>
          <p:nvPr/>
        </p:nvSpPr>
        <p:spPr>
          <a:xfrm>
            <a:off x="9299448" y="279806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B9B5CA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early paid subscriptions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66928" y="3584448"/>
            <a:ext cx="11073384" cy="1828800"/>
          </a:xfrm>
          <a:prstGeom prst="roundRect">
            <a:avLst>
              <a:gd name="adj" fmla="val 6500"/>
            </a:avLst>
          </a:prstGeom>
          <a:solidFill>
            <a:srgbClr val="17152F"/>
          </a:solidFill>
          <a:ln w="12700">
            <a:solidFill>
              <a:srgbClr val="2C294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50392" y="3840480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40" b="1" spc="80" kern="0" dirty="0">
                <a:solidFill>
                  <a:srgbClr val="9B8AF3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FINANCING STATUS</a:t>
            </a:r>
            <a:endParaRPr lang="en-US" sz="840" dirty="0"/>
          </a:p>
        </p:txBody>
      </p:sp>
      <p:sp>
        <p:nvSpPr>
          <p:cNvPr id="29" name="Text 27"/>
          <p:cNvSpPr txBox="1"/>
          <p:nvPr/>
        </p:nvSpPr>
        <p:spPr>
          <a:xfrm>
            <a:off x="850392" y="4215384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$15K</a:t>
            </a:r>
            <a:endParaRPr lang="en-US" sz="2800" dirty="0"/>
          </a:p>
        </p:txBody>
      </p:sp>
      <p:sp>
        <p:nvSpPr>
          <p:cNvPr id="30" name="Text 28"/>
          <p:cNvSpPr txBox="1"/>
          <p:nvPr/>
        </p:nvSpPr>
        <p:spPr>
          <a:xfrm>
            <a:off x="1938528" y="4160520"/>
            <a:ext cx="12344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B9B5CA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angel SAFE</a:t>
            </a:r>
            <a:endParaRPr lang="en-US" sz="103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30" dirty="0">
                <a:solidFill>
                  <a:srgbClr val="B9B5CA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committed</a:t>
            </a:r>
            <a:endParaRPr lang="en-US" sz="1030" dirty="0"/>
          </a:p>
        </p:txBody>
      </p:sp>
      <p:sp>
        <p:nvSpPr>
          <p:cNvPr id="31" name="Shape 29"/>
          <p:cNvSpPr/>
          <p:nvPr/>
        </p:nvSpPr>
        <p:spPr>
          <a:xfrm>
            <a:off x="3465576" y="3986784"/>
            <a:ext cx="0" cy="996696"/>
          </a:xfrm>
          <a:prstGeom prst="line">
            <a:avLst/>
          </a:prstGeom>
          <a:noFill/>
          <a:ln w="12700">
            <a:solidFill>
              <a:srgbClr val="35314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822192" y="4215384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5BD6B0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$60K</a:t>
            </a:r>
            <a:endParaRPr lang="en-US" sz="2800" dirty="0"/>
          </a:p>
        </p:txBody>
      </p:sp>
      <p:sp>
        <p:nvSpPr>
          <p:cNvPr id="33" name="Text 31"/>
          <p:cNvSpPr txBox="1"/>
          <p:nvPr/>
        </p:nvSpPr>
        <p:spPr>
          <a:xfrm>
            <a:off x="5056632" y="4133088"/>
            <a:ext cx="20574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20" dirty="0">
                <a:solidFill>
                  <a:srgbClr val="B9B5CA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Ibtikar five-month plan</a:t>
            </a:r>
            <a:endParaRPr lang="en-US" sz="102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20" dirty="0">
                <a:solidFill>
                  <a:srgbClr val="B9B5CA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accepted; closing documentation</a:t>
            </a:r>
            <a:endParaRPr lang="en-US" sz="1020" dirty="0"/>
          </a:p>
        </p:txBody>
      </p:sp>
      <p:sp>
        <p:nvSpPr>
          <p:cNvPr id="34" name="Shape 32"/>
          <p:cNvSpPr/>
          <p:nvPr/>
        </p:nvSpPr>
        <p:spPr>
          <a:xfrm>
            <a:off x="7388352" y="3986784"/>
            <a:ext cx="0" cy="996696"/>
          </a:xfrm>
          <a:prstGeom prst="line">
            <a:avLst/>
          </a:prstGeom>
          <a:noFill/>
          <a:ln w="12700">
            <a:solidFill>
              <a:srgbClr val="35314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726680" y="4215384"/>
            <a:ext cx="1353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FF8074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$75K</a:t>
            </a:r>
            <a:endParaRPr lang="en-US" sz="2800" dirty="0"/>
          </a:p>
        </p:txBody>
      </p:sp>
      <p:sp>
        <p:nvSpPr>
          <p:cNvPr id="36" name="Text 34"/>
          <p:cNvSpPr txBox="1"/>
          <p:nvPr/>
        </p:nvSpPr>
        <p:spPr>
          <a:xfrm>
            <a:off x="9098280" y="4133088"/>
            <a:ext cx="2039112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20" dirty="0">
                <a:solidFill>
                  <a:srgbClr val="B9B5CA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initial validation capital</a:t>
            </a:r>
            <a:endParaRPr lang="en-US" sz="102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020" dirty="0">
                <a:solidFill>
                  <a:srgbClr val="B9B5CA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15% of the $500K round</a:t>
            </a:r>
            <a:endParaRPr lang="en-US" sz="1020" dirty="0"/>
          </a:p>
        </p:txBody>
      </p:sp>
      <p:sp>
        <p:nvSpPr>
          <p:cNvPr id="37" name="Text 35"/>
          <p:cNvSpPr txBox="1"/>
          <p:nvPr/>
        </p:nvSpPr>
        <p:spPr>
          <a:xfrm>
            <a:off x="850392" y="5047488"/>
            <a:ext cx="10104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20" dirty="0">
                <a:solidFill>
                  <a:srgbClr val="51C6D9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This is evidence of momentum—not a claim of product–market fit. The next five months are designed to test conversion, CAC and retention.</a:t>
            </a:r>
            <a:endParaRPr lang="en-US" sz="9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56032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b="1" spc="70" kern="0" dirty="0">
                <a:solidFill>
                  <a:srgbClr val="0E0D22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AYO.</a:t>
            </a:r>
            <a:endParaRPr lang="en-US" sz="1550" dirty="0"/>
          </a:p>
        </p:txBody>
      </p:sp>
      <p:sp>
        <p:nvSpPr>
          <p:cNvPr id="3" name="Shape 1"/>
          <p:cNvSpPr/>
          <p:nvPr/>
        </p:nvSpPr>
        <p:spPr>
          <a:xfrm>
            <a:off x="502920" y="758952"/>
            <a:ext cx="1938528" cy="256032"/>
          </a:xfrm>
          <a:prstGeom prst="roundRect">
            <a:avLst>
              <a:gd name="adj" fmla="val 50000"/>
            </a:avLst>
          </a:prstGeom>
          <a:solidFill>
            <a:srgbClr val="ECE9FF"/>
          </a:solidFill>
          <a:ln w="12700">
            <a:solidFill>
              <a:srgbClr val="ECE9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76072" y="758952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10" b="1" spc="70" kern="0" dirty="0">
                <a:solidFill>
                  <a:srgbClr val="6B57E8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BUSINESS MODEL</a:t>
            </a:r>
            <a:endParaRPr lang="en-US" sz="81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133856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7152F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Consumer simplicity; software margins; team expansion.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636776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D596D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Freemium drives reach. Paid plans monetize intensity. Teams add a higher-value expansion path.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6437376"/>
            <a:ext cx="11183112" cy="0"/>
          </a:xfrm>
          <a:prstGeom prst="line">
            <a:avLst/>
          </a:prstGeom>
          <a:noFill/>
          <a:ln w="8890">
            <a:solidFill>
              <a:srgbClr val="DEDBE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6483096"/>
            <a:ext cx="3063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30" b="1" spc="70" kern="0" dirty="0">
                <a:solidFill>
                  <a:srgbClr val="8A8798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AYO  •  CONFIDENTIAL  •  SADU CAPITAL</a:t>
            </a:r>
            <a:endParaRPr lang="en-US" sz="730" dirty="0"/>
          </a:p>
        </p:txBody>
      </p:sp>
      <p:sp>
        <p:nvSpPr>
          <p:cNvPr id="9" name="Text 7"/>
          <p:cNvSpPr txBox="1"/>
          <p:nvPr/>
        </p:nvSpPr>
        <p:spPr>
          <a:xfrm>
            <a:off x="3611880" y="6469380"/>
            <a:ext cx="7223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660" dirty="0">
                <a:solidFill>
                  <a:srgbClr val="8A8798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Pricing and blended ARPU: AYO management assumptions, August 2026.</a:t>
            </a:r>
            <a:endParaRPr lang="en-US" sz="660" dirty="0"/>
          </a:p>
        </p:txBody>
      </p:sp>
      <p:sp>
        <p:nvSpPr>
          <p:cNvPr id="10" name="Text 8"/>
          <p:cNvSpPr txBox="1"/>
          <p:nvPr/>
        </p:nvSpPr>
        <p:spPr>
          <a:xfrm>
            <a:off x="11274552" y="6469380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8A8798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09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566928" y="2267712"/>
            <a:ext cx="1938528" cy="190195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8A879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" y="2267712"/>
            <a:ext cx="45720" cy="1901952"/>
          </a:xfrm>
          <a:prstGeom prst="rect">
            <a:avLst/>
          </a:prstGeom>
          <a:solidFill>
            <a:srgbClr val="8A8798"/>
          </a:solidFill>
          <a:ln w="12700">
            <a:solidFill>
              <a:srgbClr val="8A8798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8096" y="2505456"/>
            <a:ext cx="987552" cy="256032"/>
          </a:xfrm>
          <a:prstGeom prst="roundRect">
            <a:avLst>
              <a:gd name="adj" fmla="val 50000"/>
            </a:avLst>
          </a:prstGeom>
          <a:solidFill>
            <a:srgbClr val="EFEFF3"/>
          </a:solidFill>
          <a:ln w="12700">
            <a:solidFill>
              <a:srgbClr val="EFEFF3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41248" y="2505456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30" b="1" spc="70" kern="0" dirty="0">
                <a:solidFill>
                  <a:srgbClr val="8A8798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FREE</a:t>
            </a:r>
            <a:endParaRPr lang="en-US" sz="730" dirty="0"/>
          </a:p>
        </p:txBody>
      </p:sp>
      <p:sp>
        <p:nvSpPr>
          <p:cNvPr id="15" name="Text 13"/>
          <p:cNvSpPr txBox="1"/>
          <p:nvPr/>
        </p:nvSpPr>
        <p:spPr>
          <a:xfrm>
            <a:off x="768096" y="2898648"/>
            <a:ext cx="14173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7152F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$0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786384" y="327355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70" dirty="0">
                <a:solidFill>
                  <a:srgbClr val="8A8798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/ month</a:t>
            </a:r>
            <a:endParaRPr lang="en-US" sz="870" dirty="0"/>
          </a:p>
        </p:txBody>
      </p:sp>
      <p:sp>
        <p:nvSpPr>
          <p:cNvPr id="17" name="Text 15"/>
          <p:cNvSpPr txBox="1"/>
          <p:nvPr/>
        </p:nvSpPr>
        <p:spPr>
          <a:xfrm>
            <a:off x="768096" y="3675888"/>
            <a:ext cx="1435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0" b="1" dirty="0">
                <a:solidFill>
                  <a:srgbClr val="5D596D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Try the companion</a:t>
            </a:r>
            <a:endParaRPr lang="en-US" sz="970" dirty="0"/>
          </a:p>
        </p:txBody>
      </p:sp>
      <p:sp>
        <p:nvSpPr>
          <p:cNvPr id="18" name="Shape 16"/>
          <p:cNvSpPr/>
          <p:nvPr/>
        </p:nvSpPr>
        <p:spPr>
          <a:xfrm>
            <a:off x="2724912" y="2267712"/>
            <a:ext cx="1938528" cy="190195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51C6D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24912" y="2267712"/>
            <a:ext cx="45720" cy="1901952"/>
          </a:xfrm>
          <a:prstGeom prst="rect">
            <a:avLst/>
          </a:prstGeom>
          <a:solidFill>
            <a:srgbClr val="51C6D9"/>
          </a:solidFill>
          <a:ln w="12700">
            <a:solidFill>
              <a:srgbClr val="51C6D9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926080" y="2505456"/>
            <a:ext cx="987552" cy="256032"/>
          </a:xfrm>
          <a:prstGeom prst="roundRect">
            <a:avLst>
              <a:gd name="adj" fmla="val 50000"/>
            </a:avLst>
          </a:prstGeom>
          <a:solidFill>
            <a:srgbClr val="E7F6F8"/>
          </a:solidFill>
          <a:ln w="12700">
            <a:solidFill>
              <a:srgbClr val="E7F6F8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999232" y="2505456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30" b="1" spc="70" kern="0" dirty="0">
                <a:solidFill>
                  <a:srgbClr val="51C6D9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EXPLORER</a:t>
            </a:r>
            <a:endParaRPr lang="en-US" sz="730" dirty="0"/>
          </a:p>
        </p:txBody>
      </p:sp>
      <p:sp>
        <p:nvSpPr>
          <p:cNvPr id="22" name="Text 20"/>
          <p:cNvSpPr txBox="1"/>
          <p:nvPr/>
        </p:nvSpPr>
        <p:spPr>
          <a:xfrm>
            <a:off x="2926080" y="2898648"/>
            <a:ext cx="14173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7152F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$5</a:t>
            </a:r>
            <a:endParaRPr lang="en-US" sz="2400" dirty="0"/>
          </a:p>
        </p:txBody>
      </p:sp>
      <p:sp>
        <p:nvSpPr>
          <p:cNvPr id="23" name="Text 21"/>
          <p:cNvSpPr txBox="1"/>
          <p:nvPr/>
        </p:nvSpPr>
        <p:spPr>
          <a:xfrm>
            <a:off x="2944368" y="327355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70" dirty="0">
                <a:solidFill>
                  <a:srgbClr val="8A8798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/ month</a:t>
            </a:r>
            <a:endParaRPr lang="en-US" sz="870" dirty="0"/>
          </a:p>
        </p:txBody>
      </p:sp>
      <p:sp>
        <p:nvSpPr>
          <p:cNvPr id="24" name="Text 22"/>
          <p:cNvSpPr txBox="1"/>
          <p:nvPr/>
        </p:nvSpPr>
        <p:spPr>
          <a:xfrm>
            <a:off x="2926080" y="3675888"/>
            <a:ext cx="1435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0" b="1" dirty="0">
                <a:solidFill>
                  <a:srgbClr val="5D596D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Light monthly use</a:t>
            </a:r>
            <a:endParaRPr lang="en-US" sz="970" dirty="0"/>
          </a:p>
        </p:txBody>
      </p:sp>
      <p:sp>
        <p:nvSpPr>
          <p:cNvPr id="25" name="Shape 23"/>
          <p:cNvSpPr/>
          <p:nvPr/>
        </p:nvSpPr>
        <p:spPr>
          <a:xfrm>
            <a:off x="4882896" y="2267712"/>
            <a:ext cx="1938528" cy="190195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6B57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82896" y="2267712"/>
            <a:ext cx="45720" cy="1901952"/>
          </a:xfrm>
          <a:prstGeom prst="rect">
            <a:avLst/>
          </a:prstGeom>
          <a:solidFill>
            <a:srgbClr val="6B57E8"/>
          </a:solidFill>
          <a:ln w="12700">
            <a:solidFill>
              <a:srgbClr val="6B57E8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84064" y="2505456"/>
            <a:ext cx="987552" cy="256032"/>
          </a:xfrm>
          <a:prstGeom prst="roundRect">
            <a:avLst>
              <a:gd name="adj" fmla="val 50000"/>
            </a:avLst>
          </a:prstGeom>
          <a:solidFill>
            <a:srgbClr val="ECE9FF"/>
          </a:solidFill>
          <a:ln w="12700">
            <a:solidFill>
              <a:srgbClr val="ECE9FF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157216" y="2505456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30" b="1" spc="70" kern="0" dirty="0">
                <a:solidFill>
                  <a:srgbClr val="6B57E8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PLUS</a:t>
            </a:r>
            <a:endParaRPr lang="en-US" sz="730" dirty="0"/>
          </a:p>
        </p:txBody>
      </p:sp>
      <p:sp>
        <p:nvSpPr>
          <p:cNvPr id="29" name="Text 27"/>
          <p:cNvSpPr txBox="1"/>
          <p:nvPr/>
        </p:nvSpPr>
        <p:spPr>
          <a:xfrm>
            <a:off x="5084064" y="2898648"/>
            <a:ext cx="14173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7152F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$14.99</a:t>
            </a:r>
            <a:endParaRPr lang="en-US" sz="2400" dirty="0"/>
          </a:p>
        </p:txBody>
      </p:sp>
      <p:sp>
        <p:nvSpPr>
          <p:cNvPr id="30" name="Text 28"/>
          <p:cNvSpPr txBox="1"/>
          <p:nvPr/>
        </p:nvSpPr>
        <p:spPr>
          <a:xfrm>
            <a:off x="5102352" y="327355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70" dirty="0">
                <a:solidFill>
                  <a:srgbClr val="8A8798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/ month</a:t>
            </a:r>
            <a:endParaRPr lang="en-US" sz="870" dirty="0"/>
          </a:p>
        </p:txBody>
      </p:sp>
      <p:sp>
        <p:nvSpPr>
          <p:cNvPr id="31" name="Text 29"/>
          <p:cNvSpPr txBox="1"/>
          <p:nvPr/>
        </p:nvSpPr>
        <p:spPr>
          <a:xfrm>
            <a:off x="5084064" y="3675888"/>
            <a:ext cx="1435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0" b="1" dirty="0">
                <a:solidFill>
                  <a:srgbClr val="5D596D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Primary paid plan</a:t>
            </a:r>
            <a:endParaRPr lang="en-US" sz="970" dirty="0"/>
          </a:p>
        </p:txBody>
      </p:sp>
      <p:sp>
        <p:nvSpPr>
          <p:cNvPr id="32" name="Shape 30"/>
          <p:cNvSpPr/>
          <p:nvPr/>
        </p:nvSpPr>
        <p:spPr>
          <a:xfrm>
            <a:off x="7040880" y="2267712"/>
            <a:ext cx="1938528" cy="190195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F807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040880" y="2267712"/>
            <a:ext cx="45720" cy="1901952"/>
          </a:xfrm>
          <a:prstGeom prst="rect">
            <a:avLst/>
          </a:prstGeom>
          <a:solidFill>
            <a:srgbClr val="FF8074"/>
          </a:solidFill>
          <a:ln w="12700">
            <a:solidFill>
              <a:srgbClr val="FF8074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242048" y="2505456"/>
            <a:ext cx="987552" cy="256032"/>
          </a:xfrm>
          <a:prstGeom prst="roundRect">
            <a:avLst>
              <a:gd name="adj" fmla="val 50000"/>
            </a:avLst>
          </a:prstGeom>
          <a:solidFill>
            <a:srgbClr val="FFF0ED"/>
          </a:solidFill>
          <a:ln w="12700">
            <a:solidFill>
              <a:srgbClr val="FFF0ED">
                <a:alpha val="0"/>
              </a:srgbClr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315200" y="2505456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30" b="1" spc="70" kern="0" dirty="0">
                <a:solidFill>
                  <a:srgbClr val="FF8074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PRO</a:t>
            </a:r>
            <a:endParaRPr lang="en-US" sz="730" dirty="0"/>
          </a:p>
        </p:txBody>
      </p:sp>
      <p:sp>
        <p:nvSpPr>
          <p:cNvPr id="36" name="Text 34"/>
          <p:cNvSpPr txBox="1"/>
          <p:nvPr/>
        </p:nvSpPr>
        <p:spPr>
          <a:xfrm>
            <a:off x="7242048" y="2898648"/>
            <a:ext cx="14173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7152F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$30</a:t>
            </a:r>
            <a:endParaRPr lang="en-US" sz="2400" dirty="0"/>
          </a:p>
        </p:txBody>
      </p:sp>
      <p:sp>
        <p:nvSpPr>
          <p:cNvPr id="37" name="Text 35"/>
          <p:cNvSpPr txBox="1"/>
          <p:nvPr/>
        </p:nvSpPr>
        <p:spPr>
          <a:xfrm>
            <a:off x="7260336" y="327355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70" dirty="0">
                <a:solidFill>
                  <a:srgbClr val="8A8798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/ month</a:t>
            </a:r>
            <a:endParaRPr lang="en-US" sz="870" dirty="0"/>
          </a:p>
        </p:txBody>
      </p:sp>
      <p:sp>
        <p:nvSpPr>
          <p:cNvPr id="38" name="Text 36"/>
          <p:cNvSpPr txBox="1"/>
          <p:nvPr/>
        </p:nvSpPr>
        <p:spPr>
          <a:xfrm>
            <a:off x="7242048" y="3675888"/>
            <a:ext cx="1435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0" b="1" dirty="0">
                <a:solidFill>
                  <a:srgbClr val="5D596D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High-intensity users</a:t>
            </a:r>
            <a:endParaRPr lang="en-US" sz="970" dirty="0"/>
          </a:p>
        </p:txBody>
      </p:sp>
      <p:sp>
        <p:nvSpPr>
          <p:cNvPr id="39" name="Shape 37"/>
          <p:cNvSpPr/>
          <p:nvPr/>
        </p:nvSpPr>
        <p:spPr>
          <a:xfrm>
            <a:off x="9290304" y="2267712"/>
            <a:ext cx="2340864" cy="1901952"/>
          </a:xfrm>
          <a:prstGeom prst="roundRect">
            <a:avLst>
              <a:gd name="adj" fmla="val 6250"/>
            </a:avLst>
          </a:prstGeom>
          <a:solidFill>
            <a:srgbClr val="0E0D22"/>
          </a:solidFill>
          <a:ln w="12700">
            <a:solidFill>
              <a:srgbClr val="0E0D22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290304" y="2267712"/>
            <a:ext cx="45720" cy="1901952"/>
          </a:xfrm>
          <a:prstGeom prst="rect">
            <a:avLst/>
          </a:prstGeom>
          <a:solidFill>
            <a:srgbClr val="5BD6B0"/>
          </a:solidFill>
          <a:ln w="12700">
            <a:solidFill>
              <a:srgbClr val="5BD6B0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528048" y="2505456"/>
            <a:ext cx="1325880" cy="256032"/>
          </a:xfrm>
          <a:prstGeom prst="roundRect">
            <a:avLst>
              <a:gd name="adj" fmla="val 50000"/>
            </a:avLst>
          </a:prstGeom>
          <a:solidFill>
            <a:srgbClr val="173436"/>
          </a:solidFill>
          <a:ln w="12700">
            <a:solidFill>
              <a:srgbClr val="173436">
                <a:alpha val="0"/>
              </a:srgbClr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9601200" y="2505456"/>
            <a:ext cx="1179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10" b="1" spc="70" kern="0" dirty="0">
                <a:solidFill>
                  <a:srgbClr val="5BD6B0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AYO FOR TEAMS</a:t>
            </a:r>
            <a:endParaRPr lang="en-US" sz="710" dirty="0"/>
          </a:p>
        </p:txBody>
      </p:sp>
      <p:sp>
        <p:nvSpPr>
          <p:cNvPr id="43" name="Text 41"/>
          <p:cNvSpPr txBox="1"/>
          <p:nvPr/>
        </p:nvSpPr>
        <p:spPr>
          <a:xfrm>
            <a:off x="9528048" y="2898648"/>
            <a:ext cx="1600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Custom</a:t>
            </a:r>
            <a:endParaRPr lang="en-US" sz="2400" dirty="0"/>
          </a:p>
        </p:txBody>
      </p:sp>
      <p:sp>
        <p:nvSpPr>
          <p:cNvPr id="44" name="Text 42"/>
          <p:cNvSpPr txBox="1"/>
          <p:nvPr/>
        </p:nvSpPr>
        <p:spPr>
          <a:xfrm>
            <a:off x="9528048" y="3273552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70" dirty="0">
                <a:solidFill>
                  <a:srgbClr val="918CA6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per seat / usage</a:t>
            </a:r>
            <a:endParaRPr lang="en-US" sz="870" dirty="0"/>
          </a:p>
        </p:txBody>
      </p:sp>
      <p:sp>
        <p:nvSpPr>
          <p:cNvPr id="45" name="Text 43"/>
          <p:cNvSpPr txBox="1"/>
          <p:nvPr/>
        </p:nvSpPr>
        <p:spPr>
          <a:xfrm>
            <a:off x="9528048" y="3657600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20" b="1" dirty="0">
                <a:solidFill>
                  <a:srgbClr val="B9B5CA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Admin, knowledge, workflows</a:t>
            </a:r>
            <a:endParaRPr lang="en-US" sz="920" dirty="0"/>
          </a:p>
        </p:txBody>
      </p:sp>
      <p:sp>
        <p:nvSpPr>
          <p:cNvPr id="46" name="Shape 44"/>
          <p:cNvSpPr/>
          <p:nvPr/>
        </p:nvSpPr>
        <p:spPr>
          <a:xfrm>
            <a:off x="566928" y="4553712"/>
            <a:ext cx="11064240" cy="1051560"/>
          </a:xfrm>
          <a:prstGeom prst="roundRect">
            <a:avLst>
              <a:gd name="adj" fmla="val 11304"/>
            </a:avLst>
          </a:prstGeom>
          <a:solidFill>
            <a:srgbClr val="FFFFFF"/>
          </a:solidFill>
          <a:ln w="12700">
            <a:solidFill>
              <a:srgbClr val="DEDBE9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850392" y="48006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6B57E8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$17.49</a:t>
            </a:r>
            <a:endParaRPr lang="en-US" sz="2500" dirty="0"/>
          </a:p>
        </p:txBody>
      </p:sp>
      <p:sp>
        <p:nvSpPr>
          <p:cNvPr id="48" name="Text 46"/>
          <p:cNvSpPr txBox="1"/>
          <p:nvPr/>
        </p:nvSpPr>
        <p:spPr>
          <a:xfrm>
            <a:off x="868680" y="5193792"/>
            <a:ext cx="1627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8A8798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blended paid ARPU</a:t>
            </a:r>
            <a:endParaRPr lang="en-US" sz="880" dirty="0"/>
          </a:p>
        </p:txBody>
      </p:sp>
      <p:sp>
        <p:nvSpPr>
          <p:cNvPr id="49" name="Shape 47"/>
          <p:cNvSpPr/>
          <p:nvPr/>
        </p:nvSpPr>
        <p:spPr>
          <a:xfrm>
            <a:off x="2788920" y="4718304"/>
            <a:ext cx="0" cy="731520"/>
          </a:xfrm>
          <a:prstGeom prst="line">
            <a:avLst/>
          </a:prstGeom>
          <a:noFill/>
          <a:ln w="12700">
            <a:solidFill>
              <a:srgbClr val="DEDBE9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3090672" y="4800600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spc="80" kern="0" dirty="0">
                <a:solidFill>
                  <a:srgbClr val="6B57E8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LAND</a:t>
            </a:r>
            <a:endParaRPr lang="en-US" sz="850" dirty="0"/>
          </a:p>
        </p:txBody>
      </p:sp>
      <p:sp>
        <p:nvSpPr>
          <p:cNvPr id="51" name="Text 49"/>
          <p:cNvSpPr txBox="1"/>
          <p:nvPr/>
        </p:nvSpPr>
        <p:spPr>
          <a:xfrm>
            <a:off x="3090672" y="5074920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7152F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Free + Explorer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4517136" y="5020056"/>
            <a:ext cx="594360" cy="0"/>
          </a:xfrm>
          <a:prstGeom prst="line">
            <a:avLst/>
          </a:prstGeom>
          <a:noFill/>
          <a:ln w="19050">
            <a:solidFill>
              <a:srgbClr val="DEDBE9"/>
            </a:solidFill>
            <a:prstDash val="solid"/>
            <a:tailEnd type="triangle"/>
          </a:ln>
        </p:spPr>
      </p:sp>
      <p:sp>
        <p:nvSpPr>
          <p:cNvPr id="53" name="Text 51"/>
          <p:cNvSpPr txBox="1"/>
          <p:nvPr/>
        </p:nvSpPr>
        <p:spPr>
          <a:xfrm>
            <a:off x="5285232" y="4800600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spc="80" kern="0" dirty="0">
                <a:solidFill>
                  <a:srgbClr val="FF8074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MONETIZE</a:t>
            </a:r>
            <a:endParaRPr lang="en-US" sz="850" dirty="0"/>
          </a:p>
        </p:txBody>
      </p:sp>
      <p:sp>
        <p:nvSpPr>
          <p:cNvPr id="54" name="Text 52"/>
          <p:cNvSpPr txBox="1"/>
          <p:nvPr/>
        </p:nvSpPr>
        <p:spPr>
          <a:xfrm>
            <a:off x="5285232" y="50749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7152F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Plus + Pro</a:t>
            </a:r>
            <a:endParaRPr lang="en-US" sz="1150" dirty="0"/>
          </a:p>
        </p:txBody>
      </p:sp>
      <p:sp>
        <p:nvSpPr>
          <p:cNvPr id="55" name="Shape 53"/>
          <p:cNvSpPr/>
          <p:nvPr/>
        </p:nvSpPr>
        <p:spPr>
          <a:xfrm>
            <a:off x="6629400" y="5020056"/>
            <a:ext cx="594360" cy="0"/>
          </a:xfrm>
          <a:prstGeom prst="line">
            <a:avLst/>
          </a:prstGeom>
          <a:noFill/>
          <a:ln w="19050">
            <a:solidFill>
              <a:srgbClr val="DEDBE9"/>
            </a:solidFill>
            <a:prstDash val="solid"/>
            <a:tailEnd type="triangle"/>
          </a:ln>
        </p:spPr>
      </p:sp>
      <p:sp>
        <p:nvSpPr>
          <p:cNvPr id="56" name="Text 54"/>
          <p:cNvSpPr txBox="1"/>
          <p:nvPr/>
        </p:nvSpPr>
        <p:spPr>
          <a:xfrm>
            <a:off x="7388352" y="4800600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b="1" spc="80" kern="0" dirty="0">
                <a:solidFill>
                  <a:srgbClr val="5BD6B0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EXPAND</a:t>
            </a:r>
            <a:endParaRPr lang="en-US" sz="850" dirty="0"/>
          </a:p>
        </p:txBody>
      </p:sp>
      <p:sp>
        <p:nvSpPr>
          <p:cNvPr id="57" name="Text 55"/>
          <p:cNvSpPr txBox="1"/>
          <p:nvPr/>
        </p:nvSpPr>
        <p:spPr>
          <a:xfrm>
            <a:off x="7388352" y="5074920"/>
            <a:ext cx="1389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7152F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AYO for Teams</a:t>
            </a:r>
            <a:endParaRPr lang="en-US" sz="1150" dirty="0"/>
          </a:p>
        </p:txBody>
      </p:sp>
      <p:sp>
        <p:nvSpPr>
          <p:cNvPr id="58" name="Text 56"/>
          <p:cNvSpPr txBox="1"/>
          <p:nvPr/>
        </p:nvSpPr>
        <p:spPr>
          <a:xfrm>
            <a:off x="9116568" y="4828032"/>
            <a:ext cx="21762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5D596D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Recurring subscriptions + usage economics; future marketplace / integration revenue is optional upside, not in the base case.</a:t>
            </a:r>
            <a:endParaRPr lang="en-US" sz="84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56032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b="1" spc="70" kern="0" dirty="0">
                <a:solidFill>
                  <a:srgbClr val="FFFFFF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AYO.</a:t>
            </a:r>
            <a:endParaRPr lang="en-US" sz="1550" dirty="0"/>
          </a:p>
        </p:txBody>
      </p:sp>
      <p:sp>
        <p:nvSpPr>
          <p:cNvPr id="3" name="Shape 1"/>
          <p:cNvSpPr/>
          <p:nvPr/>
        </p:nvSpPr>
        <p:spPr>
          <a:xfrm>
            <a:off x="502920" y="758952"/>
            <a:ext cx="1650492" cy="256032"/>
          </a:xfrm>
          <a:prstGeom prst="roundRect">
            <a:avLst>
              <a:gd name="adj" fmla="val 50000"/>
            </a:avLst>
          </a:prstGeom>
          <a:solidFill>
            <a:srgbClr val="2B2750"/>
          </a:solidFill>
          <a:ln w="12700">
            <a:solidFill>
              <a:srgbClr val="2B2750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76072" y="758952"/>
            <a:ext cx="15041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10" b="1" spc="70" kern="0" dirty="0">
                <a:solidFill>
                  <a:srgbClr val="9B8AF3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POSITIONING</a:t>
            </a:r>
            <a:endParaRPr lang="en-US" sz="81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133856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AYO competes on the interaction layer.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636776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B9B5CA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The category is crowded at the model and app layer; AYO’s advantage is how intelligence is reached and used.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6437376"/>
            <a:ext cx="11183112" cy="0"/>
          </a:xfrm>
          <a:prstGeom prst="line">
            <a:avLst/>
          </a:prstGeom>
          <a:noFill/>
          <a:ln w="8890">
            <a:solidFill>
              <a:srgbClr val="29264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6483096"/>
            <a:ext cx="3063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30" b="1" spc="70" kern="0" dirty="0">
                <a:solidFill>
                  <a:srgbClr val="77738E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AYO  •  CONFIDENTIAL  •  SADU CAPITAL</a:t>
            </a:r>
            <a:endParaRPr lang="en-US" sz="730" dirty="0"/>
          </a:p>
        </p:txBody>
      </p:sp>
      <p:sp>
        <p:nvSpPr>
          <p:cNvPr id="9" name="Text 7"/>
          <p:cNvSpPr txBox="1"/>
          <p:nvPr/>
        </p:nvSpPr>
        <p:spPr>
          <a:xfrm>
            <a:off x="3611880" y="6469380"/>
            <a:ext cx="7223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660" dirty="0">
                <a:solidFill>
                  <a:srgbClr val="77738E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Illustrative positioning based on public product pages, accessed August 2026.</a:t>
            </a:r>
            <a:endParaRPr lang="en-US" sz="660" dirty="0"/>
          </a:p>
        </p:txBody>
      </p:sp>
      <p:sp>
        <p:nvSpPr>
          <p:cNvPr id="10" name="Text 8"/>
          <p:cNvSpPr txBox="1"/>
          <p:nvPr/>
        </p:nvSpPr>
        <p:spPr>
          <a:xfrm>
            <a:off x="11274552" y="6469380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77738E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10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1078992" y="5468112"/>
            <a:ext cx="9921240" cy="0"/>
          </a:xfrm>
          <a:prstGeom prst="line">
            <a:avLst/>
          </a:prstGeom>
          <a:noFill/>
          <a:ln w="15240">
            <a:solidFill>
              <a:srgbClr val="4A4662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078992" y="5468112"/>
            <a:ext cx="0" cy="-3017520"/>
          </a:xfrm>
          <a:prstGeom prst="line">
            <a:avLst/>
          </a:prstGeom>
          <a:noFill/>
          <a:ln w="15240">
            <a:solidFill>
              <a:srgbClr val="4A4662"/>
            </a:solidFill>
            <a:prstDash val="solid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1078992" y="5586984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918CA6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Answers</a:t>
            </a:r>
            <a:endParaRPr lang="en-US" sz="860" dirty="0"/>
          </a:p>
        </p:txBody>
      </p:sp>
      <p:sp>
        <p:nvSpPr>
          <p:cNvPr id="14" name="Text 12"/>
          <p:cNvSpPr txBox="1"/>
          <p:nvPr/>
        </p:nvSpPr>
        <p:spPr>
          <a:xfrm>
            <a:off x="9656064" y="5586984"/>
            <a:ext cx="1344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918CA6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Action across apps</a:t>
            </a:r>
            <a:endParaRPr lang="en-US" sz="860" dirty="0"/>
          </a:p>
        </p:txBody>
      </p:sp>
      <p:sp>
        <p:nvSpPr>
          <p:cNvPr id="15" name="Text 13"/>
          <p:cNvSpPr txBox="1"/>
          <p:nvPr/>
        </p:nvSpPr>
        <p:spPr>
          <a:xfrm>
            <a:off x="173736" y="2340864"/>
            <a:ext cx="749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918CA6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Always-present</a:t>
            </a:r>
            <a:endParaRPr lang="en-US" sz="82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918CA6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+ contextual</a:t>
            </a:r>
            <a:endParaRPr lang="en-US" sz="820" dirty="0"/>
          </a:p>
        </p:txBody>
      </p:sp>
      <p:sp>
        <p:nvSpPr>
          <p:cNvPr id="16" name="Text 14"/>
          <p:cNvSpPr txBox="1"/>
          <p:nvPr/>
        </p:nvSpPr>
        <p:spPr>
          <a:xfrm>
            <a:off x="237744" y="5010912"/>
            <a:ext cx="658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918CA6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App / session</a:t>
            </a:r>
            <a:endParaRPr lang="en-US" sz="82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918CA6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specific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1097280" y="2496312"/>
            <a:ext cx="4910328" cy="1463040"/>
          </a:xfrm>
          <a:prstGeom prst="rect">
            <a:avLst/>
          </a:prstGeom>
          <a:solidFill>
            <a:srgbClr val="17152F"/>
          </a:solidFill>
          <a:ln w="12700">
            <a:solidFill>
              <a:srgbClr val="17152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07608" y="2496312"/>
            <a:ext cx="4992624" cy="1463040"/>
          </a:xfrm>
          <a:prstGeom prst="rect">
            <a:avLst/>
          </a:prstGeom>
          <a:solidFill>
            <a:srgbClr val="1C1938"/>
          </a:solidFill>
          <a:ln w="12700">
            <a:solidFill>
              <a:srgbClr val="1C1938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97280" y="3959352"/>
            <a:ext cx="4910328" cy="1490472"/>
          </a:xfrm>
          <a:prstGeom prst="rect">
            <a:avLst/>
          </a:prstGeom>
          <a:solidFill>
            <a:srgbClr val="131129"/>
          </a:solidFill>
          <a:ln w="12700">
            <a:solidFill>
              <a:srgbClr val="131129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07608" y="3959352"/>
            <a:ext cx="4992624" cy="1490472"/>
          </a:xfrm>
          <a:prstGeom prst="rect">
            <a:avLst/>
          </a:prstGeom>
          <a:solidFill>
            <a:srgbClr val="17152F"/>
          </a:solidFill>
          <a:ln w="12700">
            <a:solidFill>
              <a:srgbClr val="17152F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965960" y="4443984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282449"/>
          </a:solidFill>
          <a:ln w="12700">
            <a:solidFill>
              <a:srgbClr val="282449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039112" y="4443984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20" b="1" spc="70" kern="0" dirty="0">
                <a:solidFill>
                  <a:srgbClr val="9B8AF3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CHATGPT DESKTOP</a:t>
            </a:r>
            <a:endParaRPr lang="en-US" sz="720" dirty="0"/>
          </a:p>
        </p:txBody>
      </p:sp>
      <p:sp>
        <p:nvSpPr>
          <p:cNvPr id="23" name="Shape 21"/>
          <p:cNvSpPr/>
          <p:nvPr/>
        </p:nvSpPr>
        <p:spPr>
          <a:xfrm>
            <a:off x="3584448" y="3108960"/>
            <a:ext cx="786384" cy="256032"/>
          </a:xfrm>
          <a:prstGeom prst="roundRect">
            <a:avLst>
              <a:gd name="adj" fmla="val 50000"/>
            </a:avLst>
          </a:prstGeom>
          <a:solidFill>
            <a:srgbClr val="183943"/>
          </a:solidFill>
          <a:ln w="12700">
            <a:solidFill>
              <a:srgbClr val="183943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657600" y="310896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20" b="1" spc="70" kern="0" dirty="0">
                <a:solidFill>
                  <a:srgbClr val="51C6D9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CLUELY</a:t>
            </a:r>
            <a:endParaRPr lang="en-US" sz="720" dirty="0"/>
          </a:p>
        </p:txBody>
      </p:sp>
      <p:sp>
        <p:nvSpPr>
          <p:cNvPr id="25" name="Shape 23"/>
          <p:cNvSpPr/>
          <p:nvPr/>
        </p:nvSpPr>
        <p:spPr>
          <a:xfrm>
            <a:off x="5724144" y="4251960"/>
            <a:ext cx="877824" cy="256032"/>
          </a:xfrm>
          <a:prstGeom prst="roundRect">
            <a:avLst>
              <a:gd name="adj" fmla="val 50000"/>
            </a:avLst>
          </a:prstGeom>
          <a:solidFill>
            <a:srgbClr val="173436"/>
          </a:solidFill>
          <a:ln w="12700">
            <a:solidFill>
              <a:srgbClr val="173436">
                <a:alpha val="0"/>
              </a:srgbClr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797296" y="425196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20" b="1" spc="70" kern="0" dirty="0">
                <a:solidFill>
                  <a:srgbClr val="5BD6B0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RAYCAST</a:t>
            </a:r>
            <a:endParaRPr lang="en-US" sz="720" dirty="0"/>
          </a:p>
        </p:txBody>
      </p:sp>
      <p:sp>
        <p:nvSpPr>
          <p:cNvPr id="27" name="Shape 25"/>
          <p:cNvSpPr/>
          <p:nvPr/>
        </p:nvSpPr>
        <p:spPr>
          <a:xfrm>
            <a:off x="7479792" y="3255264"/>
            <a:ext cx="1737360" cy="256032"/>
          </a:xfrm>
          <a:prstGeom prst="roundRect">
            <a:avLst>
              <a:gd name="adj" fmla="val 50000"/>
            </a:avLst>
          </a:prstGeom>
          <a:solidFill>
            <a:srgbClr val="40262D"/>
          </a:solidFill>
          <a:ln w="12700">
            <a:solidFill>
              <a:srgbClr val="40262D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552944" y="3255264"/>
            <a:ext cx="1591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20" b="1" spc="70" kern="0" dirty="0">
                <a:solidFill>
                  <a:srgbClr val="FF8074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MICROSOFT COPILOT</a:t>
            </a:r>
            <a:endParaRPr lang="en-US" sz="720" dirty="0"/>
          </a:p>
        </p:txBody>
      </p:sp>
      <p:sp>
        <p:nvSpPr>
          <p:cNvPr id="29" name="Shape 27"/>
          <p:cNvSpPr/>
          <p:nvPr/>
        </p:nvSpPr>
        <p:spPr>
          <a:xfrm>
            <a:off x="9116568" y="2660904"/>
            <a:ext cx="1069848" cy="1069848"/>
          </a:xfrm>
          <a:prstGeom prst="ellipse">
            <a:avLst/>
          </a:prstGeom>
          <a:solidFill>
            <a:srgbClr val="6B57E8"/>
          </a:solidFill>
          <a:ln w="10160">
            <a:solidFill>
              <a:srgbClr val="6B57E8">
                <a:alpha val="0"/>
              </a:srgbClr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116568" y="2880360"/>
            <a:ext cx="10698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AYO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8147304" y="3840480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9B8AF3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Voice + hover + silent + proactive</a:t>
            </a:r>
            <a:endParaRPr lang="en-US" sz="860" dirty="0"/>
          </a:p>
        </p:txBody>
      </p:sp>
      <p:sp>
        <p:nvSpPr>
          <p:cNvPr id="32" name="Text 30"/>
          <p:cNvSpPr txBox="1"/>
          <p:nvPr/>
        </p:nvSpPr>
        <p:spPr>
          <a:xfrm>
            <a:off x="1124712" y="5916168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70" b="1" spc="60" kern="0" dirty="0">
                <a:solidFill>
                  <a:srgbClr val="9B8AF3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WAKE WORD</a:t>
            </a:r>
            <a:endParaRPr lang="en-US" sz="770" dirty="0"/>
          </a:p>
        </p:txBody>
      </p:sp>
      <p:sp>
        <p:nvSpPr>
          <p:cNvPr id="33" name="Text 31"/>
          <p:cNvSpPr txBox="1"/>
          <p:nvPr/>
        </p:nvSpPr>
        <p:spPr>
          <a:xfrm>
            <a:off x="1124712" y="6126480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918CA6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hands-free</a:t>
            </a:r>
            <a:endParaRPr lang="en-US" sz="820" dirty="0"/>
          </a:p>
        </p:txBody>
      </p:sp>
      <p:sp>
        <p:nvSpPr>
          <p:cNvPr id="34" name="Text 32"/>
          <p:cNvSpPr txBox="1"/>
          <p:nvPr/>
        </p:nvSpPr>
        <p:spPr>
          <a:xfrm>
            <a:off x="3090672" y="5916168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70" b="1" spc="60" kern="0" dirty="0">
                <a:solidFill>
                  <a:srgbClr val="5BD6B0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HOVER</a:t>
            </a:r>
            <a:endParaRPr lang="en-US" sz="770" dirty="0"/>
          </a:p>
        </p:txBody>
      </p:sp>
      <p:sp>
        <p:nvSpPr>
          <p:cNvPr id="35" name="Text 33"/>
          <p:cNvSpPr txBox="1"/>
          <p:nvPr/>
        </p:nvSpPr>
        <p:spPr>
          <a:xfrm>
            <a:off x="3090672" y="6126480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918CA6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point at context</a:t>
            </a:r>
            <a:endParaRPr lang="en-US" sz="820" dirty="0"/>
          </a:p>
        </p:txBody>
      </p:sp>
      <p:sp>
        <p:nvSpPr>
          <p:cNvPr id="36" name="Text 34"/>
          <p:cNvSpPr txBox="1"/>
          <p:nvPr/>
        </p:nvSpPr>
        <p:spPr>
          <a:xfrm>
            <a:off x="5056632" y="5916168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70" b="1" spc="60" kern="0" dirty="0">
                <a:solidFill>
                  <a:srgbClr val="51C6D9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SILENT</a:t>
            </a:r>
            <a:endParaRPr lang="en-US" sz="770" dirty="0"/>
          </a:p>
        </p:txBody>
      </p:sp>
      <p:sp>
        <p:nvSpPr>
          <p:cNvPr id="37" name="Text 35"/>
          <p:cNvSpPr txBox="1"/>
          <p:nvPr/>
        </p:nvSpPr>
        <p:spPr>
          <a:xfrm>
            <a:off x="5056632" y="6126480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918CA6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discreet command</a:t>
            </a:r>
            <a:endParaRPr lang="en-US" sz="820" dirty="0"/>
          </a:p>
        </p:txBody>
      </p:sp>
      <p:sp>
        <p:nvSpPr>
          <p:cNvPr id="38" name="Text 36"/>
          <p:cNvSpPr txBox="1"/>
          <p:nvPr/>
        </p:nvSpPr>
        <p:spPr>
          <a:xfrm>
            <a:off x="7022592" y="5916168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70" b="1" spc="60" kern="0" dirty="0">
                <a:solidFill>
                  <a:srgbClr val="FF8074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PROACTIVE</a:t>
            </a:r>
            <a:endParaRPr lang="en-US" sz="770" dirty="0"/>
          </a:p>
        </p:txBody>
      </p:sp>
      <p:sp>
        <p:nvSpPr>
          <p:cNvPr id="39" name="Text 37"/>
          <p:cNvSpPr txBox="1"/>
          <p:nvPr/>
        </p:nvSpPr>
        <p:spPr>
          <a:xfrm>
            <a:off x="7022592" y="6126480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918CA6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next-step help</a:t>
            </a:r>
            <a:endParaRPr lang="en-US" sz="820" dirty="0"/>
          </a:p>
        </p:txBody>
      </p:sp>
      <p:sp>
        <p:nvSpPr>
          <p:cNvPr id="40" name="Text 38"/>
          <p:cNvSpPr txBox="1"/>
          <p:nvPr/>
        </p:nvSpPr>
        <p:spPr>
          <a:xfrm>
            <a:off x="8988552" y="5916168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70" b="1" spc="60" kern="0" dirty="0">
                <a:solidFill>
                  <a:srgbClr val="9B8AF3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LOCALIZED</a:t>
            </a:r>
            <a:endParaRPr lang="en-US" sz="770" dirty="0"/>
          </a:p>
        </p:txBody>
      </p:sp>
      <p:sp>
        <p:nvSpPr>
          <p:cNvPr id="41" name="Text 39"/>
          <p:cNvSpPr txBox="1"/>
          <p:nvPr/>
        </p:nvSpPr>
        <p:spPr>
          <a:xfrm>
            <a:off x="8988552" y="6126480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20" dirty="0">
                <a:solidFill>
                  <a:srgbClr val="918CA6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Arabic / GCC roadmap</a:t>
            </a:r>
            <a:endParaRPr lang="en-US" sz="8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56032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b="1" spc="70" kern="0" dirty="0">
                <a:solidFill>
                  <a:srgbClr val="0E0D22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AYO.</a:t>
            </a:r>
            <a:endParaRPr lang="en-US" sz="1550" dirty="0"/>
          </a:p>
        </p:txBody>
      </p:sp>
      <p:sp>
        <p:nvSpPr>
          <p:cNvPr id="3" name="Shape 1"/>
          <p:cNvSpPr/>
          <p:nvPr/>
        </p:nvSpPr>
        <p:spPr>
          <a:xfrm>
            <a:off x="502920" y="758952"/>
            <a:ext cx="1746504" cy="256032"/>
          </a:xfrm>
          <a:prstGeom prst="roundRect">
            <a:avLst>
              <a:gd name="adj" fmla="val 50000"/>
            </a:avLst>
          </a:prstGeom>
          <a:solidFill>
            <a:srgbClr val="ECE9FF"/>
          </a:solidFill>
          <a:ln w="12700">
            <a:solidFill>
              <a:srgbClr val="ECE9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76072" y="75895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10" b="1" spc="70" kern="0" dirty="0">
                <a:solidFill>
                  <a:srgbClr val="6B57E8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GO-TO-MARKET</a:t>
            </a:r>
            <a:endParaRPr lang="en-US" sz="81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133856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7152F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Demonstration first. Cohort evidence second. Scale third.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636776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D596D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AYO is experienced visually, so creator-led proof is the acquisition wedge—and retention is the gate.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6437376"/>
            <a:ext cx="11183112" cy="0"/>
          </a:xfrm>
          <a:prstGeom prst="line">
            <a:avLst/>
          </a:prstGeom>
          <a:noFill/>
          <a:ln w="8890">
            <a:solidFill>
              <a:srgbClr val="DEDBE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6483096"/>
            <a:ext cx="3063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30" b="1" spc="70" kern="0" dirty="0">
                <a:solidFill>
                  <a:srgbClr val="8A8798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AYO  •  CONFIDENTIAL  •  SADU CAPITAL</a:t>
            </a:r>
            <a:endParaRPr lang="en-US" sz="730" dirty="0"/>
          </a:p>
        </p:txBody>
      </p:sp>
      <p:sp>
        <p:nvSpPr>
          <p:cNvPr id="9" name="Text 7"/>
          <p:cNvSpPr txBox="1"/>
          <p:nvPr/>
        </p:nvSpPr>
        <p:spPr>
          <a:xfrm>
            <a:off x="3611880" y="6469380"/>
            <a:ext cx="7223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660" dirty="0">
                <a:solidFill>
                  <a:srgbClr val="8A8798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Targets and assumptions: AYO five-month financial model v2.4.</a:t>
            </a:r>
            <a:endParaRPr lang="en-US" sz="660" dirty="0"/>
          </a:p>
        </p:txBody>
      </p:sp>
      <p:sp>
        <p:nvSpPr>
          <p:cNvPr id="10" name="Text 8"/>
          <p:cNvSpPr txBox="1"/>
          <p:nvPr/>
        </p:nvSpPr>
        <p:spPr>
          <a:xfrm>
            <a:off x="11274552" y="6469380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8A8798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11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557784" y="2267712"/>
            <a:ext cx="1965960" cy="1417320"/>
          </a:xfrm>
          <a:prstGeom prst="roundRect">
            <a:avLst>
              <a:gd name="adj" fmla="val 8387"/>
            </a:avLst>
          </a:prstGeom>
          <a:solidFill>
            <a:srgbClr val="FFFFFF"/>
          </a:solidFill>
          <a:ln w="12700">
            <a:solidFill>
              <a:srgbClr val="DEDB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57784" y="2267712"/>
            <a:ext cx="45720" cy="1417320"/>
          </a:xfrm>
          <a:prstGeom prst="rect">
            <a:avLst/>
          </a:prstGeom>
          <a:solidFill>
            <a:srgbClr val="6B57E8"/>
          </a:solidFill>
          <a:ln w="12700">
            <a:solidFill>
              <a:srgbClr val="6B57E8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0664" y="2505456"/>
            <a:ext cx="365760" cy="365760"/>
          </a:xfrm>
          <a:prstGeom prst="ellipse">
            <a:avLst/>
          </a:prstGeom>
          <a:solidFill>
            <a:srgbClr val="6B57E8"/>
          </a:solidFill>
          <a:ln w="10160">
            <a:solidFill>
              <a:srgbClr val="6B57E8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0664" y="25008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01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1216152" y="2523744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7152F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Show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740664" y="3063240"/>
            <a:ext cx="1527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10" dirty="0">
                <a:solidFill>
                  <a:srgbClr val="5D596D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Creator demos + product storytelling</a:t>
            </a:r>
            <a:endParaRPr lang="en-US" sz="910" dirty="0"/>
          </a:p>
        </p:txBody>
      </p:sp>
      <p:sp>
        <p:nvSpPr>
          <p:cNvPr id="17" name="Shape 15"/>
          <p:cNvSpPr/>
          <p:nvPr/>
        </p:nvSpPr>
        <p:spPr>
          <a:xfrm>
            <a:off x="2542032" y="2926080"/>
            <a:ext cx="228600" cy="0"/>
          </a:xfrm>
          <a:prstGeom prst="line">
            <a:avLst/>
          </a:prstGeom>
          <a:noFill/>
          <a:ln w="17780">
            <a:solidFill>
              <a:srgbClr val="DEDBE9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2798064" y="2267712"/>
            <a:ext cx="1965960" cy="1417320"/>
          </a:xfrm>
          <a:prstGeom prst="roundRect">
            <a:avLst>
              <a:gd name="adj" fmla="val 8387"/>
            </a:avLst>
          </a:prstGeom>
          <a:solidFill>
            <a:srgbClr val="FFFFFF"/>
          </a:solidFill>
          <a:ln w="12700">
            <a:solidFill>
              <a:srgbClr val="DEDBE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98064" y="2267712"/>
            <a:ext cx="45720" cy="1417320"/>
          </a:xfrm>
          <a:prstGeom prst="rect">
            <a:avLst/>
          </a:prstGeom>
          <a:solidFill>
            <a:srgbClr val="51C6D9"/>
          </a:solidFill>
          <a:ln w="12700">
            <a:solidFill>
              <a:srgbClr val="51C6D9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980944" y="2505456"/>
            <a:ext cx="365760" cy="365760"/>
          </a:xfrm>
          <a:prstGeom prst="ellipse">
            <a:avLst/>
          </a:prstGeom>
          <a:solidFill>
            <a:srgbClr val="51C6D9"/>
          </a:solidFill>
          <a:ln w="10160">
            <a:solidFill>
              <a:srgbClr val="51C6D9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980944" y="25008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02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3456432" y="2523744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7152F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Activate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2980944" y="3063240"/>
            <a:ext cx="1527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10" dirty="0">
                <a:solidFill>
                  <a:srgbClr val="5D596D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Waitlist + tracked landing pages</a:t>
            </a:r>
            <a:endParaRPr lang="en-US" sz="910" dirty="0"/>
          </a:p>
        </p:txBody>
      </p:sp>
      <p:sp>
        <p:nvSpPr>
          <p:cNvPr id="24" name="Shape 22"/>
          <p:cNvSpPr/>
          <p:nvPr/>
        </p:nvSpPr>
        <p:spPr>
          <a:xfrm>
            <a:off x="4782312" y="2926080"/>
            <a:ext cx="228600" cy="0"/>
          </a:xfrm>
          <a:prstGeom prst="line">
            <a:avLst/>
          </a:prstGeom>
          <a:noFill/>
          <a:ln w="17780">
            <a:solidFill>
              <a:srgbClr val="DEDBE9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038344" y="2267712"/>
            <a:ext cx="1965960" cy="1417320"/>
          </a:xfrm>
          <a:prstGeom prst="roundRect">
            <a:avLst>
              <a:gd name="adj" fmla="val 8387"/>
            </a:avLst>
          </a:prstGeom>
          <a:solidFill>
            <a:srgbClr val="FFFFFF"/>
          </a:solidFill>
          <a:ln w="12700">
            <a:solidFill>
              <a:srgbClr val="DEDBE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38344" y="2267712"/>
            <a:ext cx="45720" cy="1417320"/>
          </a:xfrm>
          <a:prstGeom prst="rect">
            <a:avLst/>
          </a:prstGeom>
          <a:solidFill>
            <a:srgbClr val="5BD6B0"/>
          </a:solidFill>
          <a:ln w="12700">
            <a:solidFill>
              <a:srgbClr val="5BD6B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221224" y="2505456"/>
            <a:ext cx="365760" cy="365760"/>
          </a:xfrm>
          <a:prstGeom prst="ellipse">
            <a:avLst/>
          </a:prstGeom>
          <a:solidFill>
            <a:srgbClr val="5BD6B0"/>
          </a:solidFill>
          <a:ln w="10160">
            <a:solidFill>
              <a:srgbClr val="5BD6B0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221224" y="25008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03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5696712" y="2523744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7152F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Trial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5221224" y="3063240"/>
            <a:ext cx="1527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10" dirty="0">
                <a:solidFill>
                  <a:srgbClr val="5D596D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14-day Plus trial; card required</a:t>
            </a:r>
            <a:endParaRPr lang="en-US" sz="910" dirty="0"/>
          </a:p>
        </p:txBody>
      </p:sp>
      <p:sp>
        <p:nvSpPr>
          <p:cNvPr id="31" name="Shape 29"/>
          <p:cNvSpPr/>
          <p:nvPr/>
        </p:nvSpPr>
        <p:spPr>
          <a:xfrm>
            <a:off x="7022592" y="2926080"/>
            <a:ext cx="228600" cy="0"/>
          </a:xfrm>
          <a:prstGeom prst="line">
            <a:avLst/>
          </a:prstGeom>
          <a:noFill/>
          <a:ln w="17780">
            <a:solidFill>
              <a:srgbClr val="DEDBE9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7278624" y="2267712"/>
            <a:ext cx="1965960" cy="1417320"/>
          </a:xfrm>
          <a:prstGeom prst="roundRect">
            <a:avLst>
              <a:gd name="adj" fmla="val 8387"/>
            </a:avLst>
          </a:prstGeom>
          <a:solidFill>
            <a:srgbClr val="FFFFFF"/>
          </a:solidFill>
          <a:ln w="12700">
            <a:solidFill>
              <a:srgbClr val="DEDBE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278624" y="2267712"/>
            <a:ext cx="45720" cy="1417320"/>
          </a:xfrm>
          <a:prstGeom prst="rect">
            <a:avLst/>
          </a:prstGeom>
          <a:solidFill>
            <a:srgbClr val="FF8074"/>
          </a:solidFill>
          <a:ln w="12700">
            <a:solidFill>
              <a:srgbClr val="FF8074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461504" y="2505456"/>
            <a:ext cx="365760" cy="365760"/>
          </a:xfrm>
          <a:prstGeom prst="ellipse">
            <a:avLst/>
          </a:prstGeom>
          <a:solidFill>
            <a:srgbClr val="FF8074"/>
          </a:solidFill>
          <a:ln w="10160">
            <a:solidFill>
              <a:srgbClr val="FF8074">
                <a:alpha val="0"/>
              </a:srgbClr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461504" y="25008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04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7936992" y="2523744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7152F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Convert</a:t>
            </a:r>
            <a:endParaRPr lang="en-US" sz="1350" dirty="0"/>
          </a:p>
        </p:txBody>
      </p:sp>
      <p:sp>
        <p:nvSpPr>
          <p:cNvPr id="37" name="Text 35"/>
          <p:cNvSpPr txBox="1"/>
          <p:nvPr/>
        </p:nvSpPr>
        <p:spPr>
          <a:xfrm>
            <a:off x="7461504" y="3063240"/>
            <a:ext cx="1527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10" dirty="0">
                <a:solidFill>
                  <a:srgbClr val="5D596D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Paid cohort by source and persona</a:t>
            </a:r>
            <a:endParaRPr lang="en-US" sz="910" dirty="0"/>
          </a:p>
        </p:txBody>
      </p:sp>
      <p:sp>
        <p:nvSpPr>
          <p:cNvPr id="38" name="Shape 36"/>
          <p:cNvSpPr/>
          <p:nvPr/>
        </p:nvSpPr>
        <p:spPr>
          <a:xfrm>
            <a:off x="9262872" y="2926080"/>
            <a:ext cx="228600" cy="0"/>
          </a:xfrm>
          <a:prstGeom prst="line">
            <a:avLst/>
          </a:prstGeom>
          <a:noFill/>
          <a:ln w="17780">
            <a:solidFill>
              <a:srgbClr val="DEDBE9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9518904" y="2267712"/>
            <a:ext cx="1965960" cy="1417320"/>
          </a:xfrm>
          <a:prstGeom prst="roundRect">
            <a:avLst>
              <a:gd name="adj" fmla="val 8387"/>
            </a:avLst>
          </a:prstGeom>
          <a:solidFill>
            <a:srgbClr val="FFFFFF"/>
          </a:solidFill>
          <a:ln w="12700">
            <a:solidFill>
              <a:srgbClr val="DEDBE9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518904" y="2267712"/>
            <a:ext cx="45720" cy="1417320"/>
          </a:xfrm>
          <a:prstGeom prst="rect">
            <a:avLst/>
          </a:prstGeom>
          <a:solidFill>
            <a:srgbClr val="9B8AF3"/>
          </a:solidFill>
          <a:ln w="12700">
            <a:solidFill>
              <a:srgbClr val="9B8AF3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701784" y="2505456"/>
            <a:ext cx="365760" cy="365760"/>
          </a:xfrm>
          <a:prstGeom prst="ellipse">
            <a:avLst/>
          </a:prstGeom>
          <a:solidFill>
            <a:srgbClr val="9B8AF3"/>
          </a:solidFill>
          <a:ln w="10160">
            <a:solidFill>
              <a:srgbClr val="9B8AF3">
                <a:alpha val="0"/>
              </a:srgbClr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9701784" y="25008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05</a:t>
            </a:r>
            <a:endParaRPr lang="en-US" sz="1250" dirty="0"/>
          </a:p>
        </p:txBody>
      </p:sp>
      <p:sp>
        <p:nvSpPr>
          <p:cNvPr id="43" name="Text 41"/>
          <p:cNvSpPr txBox="1"/>
          <p:nvPr/>
        </p:nvSpPr>
        <p:spPr>
          <a:xfrm>
            <a:off x="10177272" y="2523744"/>
            <a:ext cx="950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7152F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Retain</a:t>
            </a:r>
            <a:endParaRPr lang="en-US" sz="1350" dirty="0"/>
          </a:p>
        </p:txBody>
      </p:sp>
      <p:sp>
        <p:nvSpPr>
          <p:cNvPr id="44" name="Text 42"/>
          <p:cNvSpPr txBox="1"/>
          <p:nvPr/>
        </p:nvSpPr>
        <p:spPr>
          <a:xfrm>
            <a:off x="9701784" y="3063240"/>
            <a:ext cx="1527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10" dirty="0">
                <a:solidFill>
                  <a:srgbClr val="5D596D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Renewal, churn and daily engagement</a:t>
            </a:r>
            <a:endParaRPr lang="en-US" sz="910" dirty="0"/>
          </a:p>
        </p:txBody>
      </p:sp>
      <p:sp>
        <p:nvSpPr>
          <p:cNvPr id="45" name="Shape 43"/>
          <p:cNvSpPr/>
          <p:nvPr/>
        </p:nvSpPr>
        <p:spPr>
          <a:xfrm>
            <a:off x="557784" y="3986784"/>
            <a:ext cx="6986016" cy="1536192"/>
          </a:xfrm>
          <a:prstGeom prst="roundRect">
            <a:avLst>
              <a:gd name="adj" fmla="val 7738"/>
            </a:avLst>
          </a:prstGeom>
          <a:solidFill>
            <a:srgbClr val="0E0D22"/>
          </a:solidFill>
          <a:ln w="12700">
            <a:solidFill>
              <a:srgbClr val="0E0D22">
                <a:alpha val="0"/>
              </a:srgbClr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832104" y="425196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30" b="1" spc="80" kern="0" dirty="0">
                <a:solidFill>
                  <a:srgbClr val="9B8AF3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ACQUISITION ENGINE</a:t>
            </a:r>
            <a:endParaRPr lang="en-US" sz="830" dirty="0"/>
          </a:p>
        </p:txBody>
      </p:sp>
      <p:sp>
        <p:nvSpPr>
          <p:cNvPr id="47" name="Shape 45"/>
          <p:cNvSpPr/>
          <p:nvPr/>
        </p:nvSpPr>
        <p:spPr>
          <a:xfrm>
            <a:off x="841248" y="4654296"/>
            <a:ext cx="91440" cy="91440"/>
          </a:xfrm>
          <a:prstGeom prst="ellipse">
            <a:avLst/>
          </a:prstGeom>
          <a:solidFill>
            <a:srgbClr val="6B57E8"/>
          </a:solidFill>
          <a:ln w="10160">
            <a:solidFill>
              <a:srgbClr val="6B57E8">
                <a:alpha val="0"/>
              </a:srgbClr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1014984" y="459028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Major YouTube creator integrations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841248" y="4937760"/>
            <a:ext cx="91440" cy="91440"/>
          </a:xfrm>
          <a:prstGeom prst="ellipse">
            <a:avLst/>
          </a:prstGeom>
          <a:solidFill>
            <a:srgbClr val="6B57E8"/>
          </a:solidFill>
          <a:ln w="10160">
            <a:solidFill>
              <a:srgbClr val="6B57E8">
                <a:alpha val="0"/>
              </a:srgbClr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1014984" y="487375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Professional product demos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841248" y="5221224"/>
            <a:ext cx="91440" cy="91440"/>
          </a:xfrm>
          <a:prstGeom prst="ellipse">
            <a:avLst/>
          </a:prstGeom>
          <a:solidFill>
            <a:srgbClr val="6B57E8"/>
          </a:solidFill>
          <a:ln w="10160">
            <a:solidFill>
              <a:srgbClr val="6B57E8">
                <a:alpha val="0"/>
              </a:srgbClr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1014984" y="515721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UGC + niche creators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078224" y="4654296"/>
            <a:ext cx="91440" cy="91440"/>
          </a:xfrm>
          <a:prstGeom prst="ellipse">
            <a:avLst/>
          </a:prstGeom>
          <a:solidFill>
            <a:srgbClr val="5BD6B0"/>
          </a:solidFill>
          <a:ln w="10160">
            <a:solidFill>
              <a:srgbClr val="5BD6B0">
                <a:alpha val="0"/>
              </a:srgbClr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4251960" y="459028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Paid amplification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078224" y="4937760"/>
            <a:ext cx="91440" cy="91440"/>
          </a:xfrm>
          <a:prstGeom prst="ellipse">
            <a:avLst/>
          </a:prstGeom>
          <a:solidFill>
            <a:srgbClr val="5BD6B0"/>
          </a:solidFill>
          <a:ln w="10160">
            <a:solidFill>
              <a:srgbClr val="5BD6B0">
                <a:alpha val="0"/>
              </a:srgbClr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4251960" y="487375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Referral loops + Arabic/GCC content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7836408" y="3986784"/>
            <a:ext cx="3794760" cy="1536192"/>
          </a:xfrm>
          <a:prstGeom prst="roundRect">
            <a:avLst>
              <a:gd name="adj" fmla="val 7738"/>
            </a:avLst>
          </a:prstGeom>
          <a:solidFill>
            <a:srgbClr val="FFFFFF"/>
          </a:solidFill>
          <a:ln w="12700">
            <a:solidFill>
              <a:srgbClr val="DEDBE9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8110728" y="4251960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30" b="1" spc="80" kern="0" dirty="0">
                <a:solidFill>
                  <a:srgbClr val="FF8074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SCALE GATES</a:t>
            </a:r>
            <a:endParaRPr lang="en-US" sz="830" dirty="0"/>
          </a:p>
        </p:txBody>
      </p:sp>
      <p:sp>
        <p:nvSpPr>
          <p:cNvPr id="59" name="Text 57"/>
          <p:cNvSpPr txBox="1"/>
          <p:nvPr/>
        </p:nvSpPr>
        <p:spPr>
          <a:xfrm>
            <a:off x="8101584" y="4608576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6B57E8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≤ $45</a:t>
            </a:r>
            <a:endParaRPr lang="en-US" sz="1600" dirty="0"/>
          </a:p>
        </p:txBody>
      </p:sp>
      <p:sp>
        <p:nvSpPr>
          <p:cNvPr id="60" name="Text 58"/>
          <p:cNvSpPr txBox="1"/>
          <p:nvPr/>
        </p:nvSpPr>
        <p:spPr>
          <a:xfrm>
            <a:off x="8101584" y="4937760"/>
            <a:ext cx="93268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5D596D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all-in paid CAC target</a:t>
            </a:r>
            <a:endParaRPr lang="en-US" sz="790" dirty="0"/>
          </a:p>
        </p:txBody>
      </p:sp>
      <p:sp>
        <p:nvSpPr>
          <p:cNvPr id="61" name="Text 59"/>
          <p:cNvSpPr txBox="1"/>
          <p:nvPr/>
        </p:nvSpPr>
        <p:spPr>
          <a:xfrm>
            <a:off x="9180576" y="4608576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5BD6B0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35%</a:t>
            </a:r>
            <a:endParaRPr lang="en-US" sz="1600" dirty="0"/>
          </a:p>
        </p:txBody>
      </p:sp>
      <p:sp>
        <p:nvSpPr>
          <p:cNvPr id="62" name="Text 60"/>
          <p:cNvSpPr txBox="1"/>
          <p:nvPr/>
        </p:nvSpPr>
        <p:spPr>
          <a:xfrm>
            <a:off x="9180576" y="4937760"/>
            <a:ext cx="93268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5D596D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trial-to-paid target</a:t>
            </a:r>
            <a:endParaRPr lang="en-US" sz="790" dirty="0"/>
          </a:p>
        </p:txBody>
      </p:sp>
      <p:sp>
        <p:nvSpPr>
          <p:cNvPr id="63" name="Text 61"/>
          <p:cNvSpPr txBox="1"/>
          <p:nvPr/>
        </p:nvSpPr>
        <p:spPr>
          <a:xfrm>
            <a:off x="10259568" y="4608576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8074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≥ 1,000</a:t>
            </a:r>
            <a:endParaRPr lang="en-US" sz="1600" dirty="0"/>
          </a:p>
        </p:txBody>
      </p:sp>
      <p:sp>
        <p:nvSpPr>
          <p:cNvPr id="64" name="Text 62"/>
          <p:cNvSpPr txBox="1"/>
          <p:nvPr/>
        </p:nvSpPr>
        <p:spPr>
          <a:xfrm>
            <a:off x="10259568" y="4937760"/>
            <a:ext cx="93268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90" dirty="0">
                <a:solidFill>
                  <a:srgbClr val="5D596D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paid users by M4 target</a:t>
            </a:r>
            <a:endParaRPr lang="en-US" sz="79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56032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b="1" spc="70" kern="0" dirty="0">
                <a:solidFill>
                  <a:srgbClr val="FFFFFF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AYO.</a:t>
            </a:r>
            <a:endParaRPr lang="en-US" sz="1550" dirty="0"/>
          </a:p>
        </p:txBody>
      </p:sp>
      <p:sp>
        <p:nvSpPr>
          <p:cNvPr id="3" name="Shape 1"/>
          <p:cNvSpPr/>
          <p:nvPr/>
        </p:nvSpPr>
        <p:spPr>
          <a:xfrm>
            <a:off x="502920" y="758952"/>
            <a:ext cx="2034540" cy="256032"/>
          </a:xfrm>
          <a:prstGeom prst="roundRect">
            <a:avLst>
              <a:gd name="adj" fmla="val 50000"/>
            </a:avLst>
          </a:prstGeom>
          <a:solidFill>
            <a:srgbClr val="2B2750"/>
          </a:solidFill>
          <a:ln w="12700">
            <a:solidFill>
              <a:srgbClr val="2B2750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76072" y="758952"/>
            <a:ext cx="18882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10" b="1" spc="70" kern="0" dirty="0">
                <a:solidFill>
                  <a:srgbClr val="9B8AF3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VALIDATION PLAN</a:t>
            </a:r>
            <a:endParaRPr lang="en-US" sz="81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133856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Five months turn product belief into investment evidence.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636776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B9B5CA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The $75K phase is designed to answer one question: should AYO scale acquisition and expansion?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6437376"/>
            <a:ext cx="11183112" cy="0"/>
          </a:xfrm>
          <a:prstGeom prst="line">
            <a:avLst/>
          </a:prstGeom>
          <a:noFill/>
          <a:ln w="8890">
            <a:solidFill>
              <a:srgbClr val="29264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6483096"/>
            <a:ext cx="3063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30" b="1" spc="70" kern="0" dirty="0">
                <a:solidFill>
                  <a:srgbClr val="77738E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AYO  •  CONFIDENTIAL  •  SADU CAPITAL</a:t>
            </a:r>
            <a:endParaRPr lang="en-US" sz="730" dirty="0"/>
          </a:p>
        </p:txBody>
      </p:sp>
      <p:sp>
        <p:nvSpPr>
          <p:cNvPr id="9" name="Text 7"/>
          <p:cNvSpPr txBox="1"/>
          <p:nvPr/>
        </p:nvSpPr>
        <p:spPr>
          <a:xfrm>
            <a:off x="3611880" y="6469380"/>
            <a:ext cx="7223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660" dirty="0">
                <a:solidFill>
                  <a:srgbClr val="77738E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Source: AYO five-month validation &amp; 12-month planning model v2.4.</a:t>
            </a:r>
            <a:endParaRPr lang="en-US" sz="660" dirty="0"/>
          </a:p>
        </p:txBody>
      </p:sp>
      <p:sp>
        <p:nvSpPr>
          <p:cNvPr id="10" name="Text 8"/>
          <p:cNvSpPr txBox="1"/>
          <p:nvPr/>
        </p:nvSpPr>
        <p:spPr>
          <a:xfrm>
            <a:off x="11274552" y="6469380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77738E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12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566928" y="2249424"/>
            <a:ext cx="1956816" cy="1965960"/>
          </a:xfrm>
          <a:prstGeom prst="roundRect">
            <a:avLst>
              <a:gd name="adj" fmla="val 6075"/>
            </a:avLst>
          </a:prstGeom>
          <a:solidFill>
            <a:srgbClr val="17152F"/>
          </a:solidFill>
          <a:ln w="12700">
            <a:solidFill>
              <a:srgbClr val="2C294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" y="2249424"/>
            <a:ext cx="45720" cy="1965960"/>
          </a:xfrm>
          <a:prstGeom prst="rect">
            <a:avLst/>
          </a:prstGeom>
          <a:solidFill>
            <a:srgbClr val="6B57E8"/>
          </a:solidFill>
          <a:ln w="12700">
            <a:solidFill>
              <a:srgbClr val="6B57E8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8096" y="2514600"/>
            <a:ext cx="484632" cy="256032"/>
          </a:xfrm>
          <a:prstGeom prst="roundRect">
            <a:avLst>
              <a:gd name="adj" fmla="val 50000"/>
            </a:avLst>
          </a:prstGeom>
          <a:solidFill>
            <a:srgbClr val="6B57E8"/>
          </a:solidFill>
          <a:ln w="12700">
            <a:solidFill>
              <a:srgbClr val="6B57E8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41248" y="2514600"/>
            <a:ext cx="338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b="1" spc="70" kern="0" dirty="0">
                <a:solidFill>
                  <a:srgbClr val="FFFFFF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M1</a:t>
            </a:r>
            <a:endParaRPr lang="en-US" sz="750" dirty="0"/>
          </a:p>
        </p:txBody>
      </p:sp>
      <p:sp>
        <p:nvSpPr>
          <p:cNvPr id="15" name="Text 13"/>
          <p:cNvSpPr txBox="1"/>
          <p:nvPr/>
        </p:nvSpPr>
        <p:spPr>
          <a:xfrm>
            <a:off x="768096" y="2898648"/>
            <a:ext cx="1344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spc="40" kern="0" dirty="0">
                <a:solidFill>
                  <a:srgbClr val="FFFFFF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READY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768096" y="3273552"/>
            <a:ext cx="1481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40" dirty="0">
                <a:solidFill>
                  <a:srgbClr val="B9B5CA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Product hardening</a:t>
            </a:r>
            <a:endParaRPr lang="en-US" sz="94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40" dirty="0">
                <a:solidFill>
                  <a:srgbClr val="B9B5CA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Billing + attribution</a:t>
            </a:r>
            <a:endParaRPr lang="en-US" sz="94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40" dirty="0">
                <a:solidFill>
                  <a:srgbClr val="B9B5CA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Code signing</a:t>
            </a:r>
            <a:endParaRPr lang="en-US" sz="940" dirty="0"/>
          </a:p>
        </p:txBody>
      </p:sp>
      <p:sp>
        <p:nvSpPr>
          <p:cNvPr id="17" name="Shape 15"/>
          <p:cNvSpPr/>
          <p:nvPr/>
        </p:nvSpPr>
        <p:spPr>
          <a:xfrm>
            <a:off x="2542032" y="3218688"/>
            <a:ext cx="228600" cy="0"/>
          </a:xfrm>
          <a:prstGeom prst="line">
            <a:avLst/>
          </a:prstGeom>
          <a:noFill/>
          <a:ln w="15240">
            <a:solidFill>
              <a:srgbClr val="4A4662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2798064" y="2249424"/>
            <a:ext cx="1956816" cy="1965960"/>
          </a:xfrm>
          <a:prstGeom prst="roundRect">
            <a:avLst>
              <a:gd name="adj" fmla="val 6075"/>
            </a:avLst>
          </a:prstGeom>
          <a:solidFill>
            <a:srgbClr val="17152F"/>
          </a:solidFill>
          <a:ln w="12700">
            <a:solidFill>
              <a:srgbClr val="2C294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98064" y="2249424"/>
            <a:ext cx="45720" cy="1965960"/>
          </a:xfrm>
          <a:prstGeom prst="rect">
            <a:avLst/>
          </a:prstGeom>
          <a:solidFill>
            <a:srgbClr val="51C6D9"/>
          </a:solidFill>
          <a:ln w="12700">
            <a:solidFill>
              <a:srgbClr val="51C6D9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999232" y="2514600"/>
            <a:ext cx="484632" cy="256032"/>
          </a:xfrm>
          <a:prstGeom prst="roundRect">
            <a:avLst>
              <a:gd name="adj" fmla="val 50000"/>
            </a:avLst>
          </a:prstGeom>
          <a:solidFill>
            <a:srgbClr val="51C6D9"/>
          </a:solidFill>
          <a:ln w="12700">
            <a:solidFill>
              <a:srgbClr val="51C6D9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072384" y="2514600"/>
            <a:ext cx="338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b="1" spc="70" kern="0" dirty="0">
                <a:solidFill>
                  <a:srgbClr val="FFFFFF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M2</a:t>
            </a:r>
            <a:endParaRPr lang="en-US" sz="750" dirty="0"/>
          </a:p>
        </p:txBody>
      </p:sp>
      <p:sp>
        <p:nvSpPr>
          <p:cNvPr id="22" name="Text 20"/>
          <p:cNvSpPr txBox="1"/>
          <p:nvPr/>
        </p:nvSpPr>
        <p:spPr>
          <a:xfrm>
            <a:off x="2999232" y="2898648"/>
            <a:ext cx="1344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spc="40" kern="0" dirty="0">
                <a:solidFill>
                  <a:srgbClr val="FFFFFF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LAUNCH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2999232" y="3273552"/>
            <a:ext cx="1481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40" dirty="0">
                <a:solidFill>
                  <a:srgbClr val="B9B5CA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Creator campaign</a:t>
            </a:r>
            <a:endParaRPr lang="en-US" sz="94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40" dirty="0">
                <a:solidFill>
                  <a:srgbClr val="B9B5CA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14-day Plus trial</a:t>
            </a:r>
            <a:endParaRPr lang="en-US" sz="94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40" dirty="0">
                <a:solidFill>
                  <a:srgbClr val="B9B5CA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Tracked cohorts</a:t>
            </a:r>
            <a:endParaRPr lang="en-US" sz="940" dirty="0"/>
          </a:p>
        </p:txBody>
      </p:sp>
      <p:sp>
        <p:nvSpPr>
          <p:cNvPr id="24" name="Shape 22"/>
          <p:cNvSpPr/>
          <p:nvPr/>
        </p:nvSpPr>
        <p:spPr>
          <a:xfrm>
            <a:off x="4773168" y="3218688"/>
            <a:ext cx="228600" cy="0"/>
          </a:xfrm>
          <a:prstGeom prst="line">
            <a:avLst/>
          </a:prstGeom>
          <a:noFill/>
          <a:ln w="15240">
            <a:solidFill>
              <a:srgbClr val="4A4662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029200" y="2249424"/>
            <a:ext cx="1956816" cy="1965960"/>
          </a:xfrm>
          <a:prstGeom prst="roundRect">
            <a:avLst>
              <a:gd name="adj" fmla="val 6075"/>
            </a:avLst>
          </a:prstGeom>
          <a:solidFill>
            <a:srgbClr val="17152F"/>
          </a:solidFill>
          <a:ln w="12700">
            <a:solidFill>
              <a:srgbClr val="2C294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0" y="2249424"/>
            <a:ext cx="45720" cy="1965960"/>
          </a:xfrm>
          <a:prstGeom prst="rect">
            <a:avLst/>
          </a:prstGeom>
          <a:solidFill>
            <a:srgbClr val="5BD6B0"/>
          </a:solidFill>
          <a:ln w="12700">
            <a:solidFill>
              <a:srgbClr val="5BD6B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230368" y="2514600"/>
            <a:ext cx="484632" cy="256032"/>
          </a:xfrm>
          <a:prstGeom prst="roundRect">
            <a:avLst>
              <a:gd name="adj" fmla="val 50000"/>
            </a:avLst>
          </a:prstGeom>
          <a:solidFill>
            <a:srgbClr val="5BD6B0"/>
          </a:solidFill>
          <a:ln w="12700">
            <a:solidFill>
              <a:srgbClr val="5BD6B0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303520" y="2514600"/>
            <a:ext cx="338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b="1" spc="70" kern="0" dirty="0">
                <a:solidFill>
                  <a:srgbClr val="FFFFFF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M3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5230368" y="2898648"/>
            <a:ext cx="1344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spc="40" kern="0" dirty="0">
                <a:solidFill>
                  <a:srgbClr val="FFFFFF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CONVERT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230368" y="3273552"/>
            <a:ext cx="1481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40" dirty="0">
                <a:solidFill>
                  <a:srgbClr val="B9B5CA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Paid cohort</a:t>
            </a:r>
            <a:endParaRPr lang="en-US" sz="94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40" dirty="0">
                <a:solidFill>
                  <a:srgbClr val="B9B5CA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CAC + MRR report</a:t>
            </a:r>
            <a:endParaRPr lang="en-US" sz="94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40" dirty="0">
                <a:solidFill>
                  <a:srgbClr val="B9B5CA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Usage depth</a:t>
            </a:r>
            <a:endParaRPr lang="en-US" sz="940" dirty="0"/>
          </a:p>
        </p:txBody>
      </p:sp>
      <p:sp>
        <p:nvSpPr>
          <p:cNvPr id="31" name="Shape 29"/>
          <p:cNvSpPr/>
          <p:nvPr/>
        </p:nvSpPr>
        <p:spPr>
          <a:xfrm>
            <a:off x="7004304" y="3218688"/>
            <a:ext cx="228600" cy="0"/>
          </a:xfrm>
          <a:prstGeom prst="line">
            <a:avLst/>
          </a:prstGeom>
          <a:noFill/>
          <a:ln w="15240">
            <a:solidFill>
              <a:srgbClr val="4A4662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7260336" y="2249424"/>
            <a:ext cx="1956816" cy="1965960"/>
          </a:xfrm>
          <a:prstGeom prst="roundRect">
            <a:avLst>
              <a:gd name="adj" fmla="val 6075"/>
            </a:avLst>
          </a:prstGeom>
          <a:solidFill>
            <a:srgbClr val="17152F"/>
          </a:solidFill>
          <a:ln w="12700">
            <a:solidFill>
              <a:srgbClr val="2C294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260336" y="2249424"/>
            <a:ext cx="45720" cy="1965960"/>
          </a:xfrm>
          <a:prstGeom prst="rect">
            <a:avLst/>
          </a:prstGeom>
          <a:solidFill>
            <a:srgbClr val="FF8074"/>
          </a:solidFill>
          <a:ln w="12700">
            <a:solidFill>
              <a:srgbClr val="FF8074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461504" y="2514600"/>
            <a:ext cx="484632" cy="256032"/>
          </a:xfrm>
          <a:prstGeom prst="roundRect">
            <a:avLst>
              <a:gd name="adj" fmla="val 50000"/>
            </a:avLst>
          </a:prstGeom>
          <a:solidFill>
            <a:srgbClr val="FF8074"/>
          </a:solidFill>
          <a:ln w="12700">
            <a:solidFill>
              <a:srgbClr val="FF8074">
                <a:alpha val="0"/>
              </a:srgbClr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534656" y="2514600"/>
            <a:ext cx="338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b="1" spc="70" kern="0" dirty="0">
                <a:solidFill>
                  <a:srgbClr val="FFFFFF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M4</a:t>
            </a:r>
            <a:endParaRPr lang="en-US" sz="750" dirty="0"/>
          </a:p>
        </p:txBody>
      </p:sp>
      <p:sp>
        <p:nvSpPr>
          <p:cNvPr id="36" name="Text 34"/>
          <p:cNvSpPr txBox="1"/>
          <p:nvPr/>
        </p:nvSpPr>
        <p:spPr>
          <a:xfrm>
            <a:off x="7461504" y="2898648"/>
            <a:ext cx="1344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spc="40" kern="0" dirty="0">
                <a:solidFill>
                  <a:srgbClr val="FFFFFF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RENEW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7461504" y="3273552"/>
            <a:ext cx="1481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40" dirty="0">
                <a:solidFill>
                  <a:srgbClr val="B9B5CA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First renewal</a:t>
            </a:r>
            <a:endParaRPr lang="en-US" sz="94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40" dirty="0">
                <a:solidFill>
                  <a:srgbClr val="B9B5CA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Churn evidence</a:t>
            </a:r>
            <a:endParaRPr lang="en-US" sz="94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40" dirty="0">
                <a:solidFill>
                  <a:srgbClr val="B9B5CA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Referral signal</a:t>
            </a:r>
            <a:endParaRPr lang="en-US" sz="940" dirty="0"/>
          </a:p>
        </p:txBody>
      </p:sp>
      <p:sp>
        <p:nvSpPr>
          <p:cNvPr id="38" name="Shape 36"/>
          <p:cNvSpPr/>
          <p:nvPr/>
        </p:nvSpPr>
        <p:spPr>
          <a:xfrm>
            <a:off x="9235440" y="3218688"/>
            <a:ext cx="228600" cy="0"/>
          </a:xfrm>
          <a:prstGeom prst="line">
            <a:avLst/>
          </a:prstGeom>
          <a:noFill/>
          <a:ln w="15240">
            <a:solidFill>
              <a:srgbClr val="4A4662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9491472" y="2249424"/>
            <a:ext cx="1956816" cy="1965960"/>
          </a:xfrm>
          <a:prstGeom prst="roundRect">
            <a:avLst>
              <a:gd name="adj" fmla="val 6075"/>
            </a:avLst>
          </a:prstGeom>
          <a:solidFill>
            <a:srgbClr val="17152F"/>
          </a:solidFill>
          <a:ln w="12700">
            <a:solidFill>
              <a:srgbClr val="2C294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491472" y="2249424"/>
            <a:ext cx="45720" cy="1965960"/>
          </a:xfrm>
          <a:prstGeom prst="rect">
            <a:avLst/>
          </a:prstGeom>
          <a:solidFill>
            <a:srgbClr val="9B8AF3"/>
          </a:solidFill>
          <a:ln w="12700">
            <a:solidFill>
              <a:srgbClr val="9B8AF3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692640" y="2514600"/>
            <a:ext cx="484632" cy="256032"/>
          </a:xfrm>
          <a:prstGeom prst="roundRect">
            <a:avLst>
              <a:gd name="adj" fmla="val 50000"/>
            </a:avLst>
          </a:prstGeom>
          <a:solidFill>
            <a:srgbClr val="9B8AF3"/>
          </a:solidFill>
          <a:ln w="12700">
            <a:solidFill>
              <a:srgbClr val="9B8AF3">
                <a:alpha val="0"/>
              </a:srgbClr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9765792" y="2514600"/>
            <a:ext cx="338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50" b="1" spc="70" kern="0" dirty="0">
                <a:solidFill>
                  <a:srgbClr val="FFFFFF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M5</a:t>
            </a:r>
            <a:endParaRPr lang="en-US" sz="750" dirty="0"/>
          </a:p>
        </p:txBody>
      </p:sp>
      <p:sp>
        <p:nvSpPr>
          <p:cNvPr id="43" name="Text 41"/>
          <p:cNvSpPr txBox="1"/>
          <p:nvPr/>
        </p:nvSpPr>
        <p:spPr>
          <a:xfrm>
            <a:off x="9692640" y="2898648"/>
            <a:ext cx="1344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spc="40" kern="0" dirty="0">
                <a:solidFill>
                  <a:srgbClr val="FFFFFF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DECIDE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9692640" y="3273552"/>
            <a:ext cx="1481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40" dirty="0">
                <a:solidFill>
                  <a:srgbClr val="B9B5CA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Consolidated CAC</a:t>
            </a:r>
            <a:endParaRPr lang="en-US" sz="94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40" dirty="0">
                <a:solidFill>
                  <a:srgbClr val="B9B5CA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Retention + churn</a:t>
            </a:r>
            <a:endParaRPr lang="en-US" sz="94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40" dirty="0">
                <a:solidFill>
                  <a:srgbClr val="B9B5CA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Scale decision</a:t>
            </a:r>
            <a:endParaRPr lang="en-US" sz="940" dirty="0"/>
          </a:p>
        </p:txBody>
      </p:sp>
      <p:sp>
        <p:nvSpPr>
          <p:cNvPr id="45" name="Shape 43"/>
          <p:cNvSpPr/>
          <p:nvPr/>
        </p:nvSpPr>
        <p:spPr>
          <a:xfrm>
            <a:off x="566928" y="4572000"/>
            <a:ext cx="11064240" cy="969264"/>
          </a:xfrm>
          <a:prstGeom prst="roundRect">
            <a:avLst>
              <a:gd name="adj" fmla="val 1226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841248" y="47548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6B57E8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$20.4K</a:t>
            </a:r>
            <a:endParaRPr lang="en-US" sz="2100" dirty="0"/>
          </a:p>
        </p:txBody>
      </p:sp>
      <p:sp>
        <p:nvSpPr>
          <p:cNvPr id="47" name="Text 45"/>
          <p:cNvSpPr txBox="1"/>
          <p:nvPr/>
        </p:nvSpPr>
        <p:spPr>
          <a:xfrm>
            <a:off x="841248" y="5111496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70" dirty="0">
                <a:solidFill>
                  <a:srgbClr val="5D596D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M5 ending MRR</a:t>
            </a:r>
            <a:endParaRPr lang="en-US" sz="870" dirty="0"/>
          </a:p>
        </p:txBody>
      </p:sp>
      <p:sp>
        <p:nvSpPr>
          <p:cNvPr id="48" name="Text 46"/>
          <p:cNvSpPr txBox="1"/>
          <p:nvPr/>
        </p:nvSpPr>
        <p:spPr>
          <a:xfrm>
            <a:off x="3566160" y="47548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51C6D9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1,168</a:t>
            </a:r>
            <a:endParaRPr lang="en-US" sz="2100" dirty="0"/>
          </a:p>
        </p:txBody>
      </p:sp>
      <p:sp>
        <p:nvSpPr>
          <p:cNvPr id="49" name="Text 47"/>
          <p:cNvSpPr txBox="1"/>
          <p:nvPr/>
        </p:nvSpPr>
        <p:spPr>
          <a:xfrm>
            <a:off x="3566160" y="5111496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70" dirty="0">
                <a:solidFill>
                  <a:srgbClr val="5D596D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M5 paid users</a:t>
            </a:r>
            <a:endParaRPr lang="en-US" sz="870" dirty="0"/>
          </a:p>
        </p:txBody>
      </p:sp>
      <p:sp>
        <p:nvSpPr>
          <p:cNvPr id="50" name="Text 48"/>
          <p:cNvSpPr txBox="1"/>
          <p:nvPr/>
        </p:nvSpPr>
        <p:spPr>
          <a:xfrm>
            <a:off x="6291072" y="47548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5BD6B0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74.5%</a:t>
            </a:r>
            <a:endParaRPr lang="en-US" sz="2100" dirty="0"/>
          </a:p>
        </p:txBody>
      </p:sp>
      <p:sp>
        <p:nvSpPr>
          <p:cNvPr id="51" name="Text 49"/>
          <p:cNvSpPr txBox="1"/>
          <p:nvPr/>
        </p:nvSpPr>
        <p:spPr>
          <a:xfrm>
            <a:off x="6291072" y="5111496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70" dirty="0">
                <a:solidFill>
                  <a:srgbClr val="5D596D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M5 gross margin</a:t>
            </a:r>
            <a:endParaRPr lang="en-US" sz="870" dirty="0"/>
          </a:p>
        </p:txBody>
      </p:sp>
      <p:sp>
        <p:nvSpPr>
          <p:cNvPr id="52" name="Text 50"/>
          <p:cNvSpPr txBox="1"/>
          <p:nvPr/>
        </p:nvSpPr>
        <p:spPr>
          <a:xfrm>
            <a:off x="9015984" y="47548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FF8074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+$0.9K</a:t>
            </a:r>
            <a:endParaRPr lang="en-US" sz="2100" dirty="0"/>
          </a:p>
        </p:txBody>
      </p:sp>
      <p:sp>
        <p:nvSpPr>
          <p:cNvPr id="53" name="Text 51"/>
          <p:cNvSpPr txBox="1"/>
          <p:nvPr/>
        </p:nvSpPr>
        <p:spPr>
          <a:xfrm>
            <a:off x="9015984" y="5111496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70" dirty="0">
                <a:solidFill>
                  <a:srgbClr val="5D596D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M5 monthly EBITDA</a:t>
            </a:r>
            <a:endParaRPr lang="en-US" sz="870" dirty="0"/>
          </a:p>
        </p:txBody>
      </p:sp>
      <p:sp>
        <p:nvSpPr>
          <p:cNvPr id="54" name="Text 52"/>
          <p:cNvSpPr txBox="1"/>
          <p:nvPr/>
        </p:nvSpPr>
        <p:spPr>
          <a:xfrm>
            <a:off x="841248" y="5650992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30" i="1" dirty="0">
                <a:solidFill>
                  <a:srgbClr val="918CA6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Base-case planning outputs—not guarantees. Live cohort evidence replaces assumptions as it arrives.</a:t>
            </a:r>
            <a:endParaRPr lang="en-US" sz="83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56032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b="1" spc="70" kern="0" dirty="0">
                <a:solidFill>
                  <a:srgbClr val="0E0D22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AYO.</a:t>
            </a:r>
            <a:endParaRPr lang="en-US" sz="1550" dirty="0"/>
          </a:p>
        </p:txBody>
      </p:sp>
      <p:sp>
        <p:nvSpPr>
          <p:cNvPr id="3" name="Shape 1"/>
          <p:cNvSpPr/>
          <p:nvPr/>
        </p:nvSpPr>
        <p:spPr>
          <a:xfrm>
            <a:off x="502920" y="758952"/>
            <a:ext cx="1266444" cy="256032"/>
          </a:xfrm>
          <a:prstGeom prst="roundRect">
            <a:avLst>
              <a:gd name="adj" fmla="val 50000"/>
            </a:avLst>
          </a:prstGeom>
          <a:solidFill>
            <a:srgbClr val="ECE9FF"/>
          </a:solidFill>
          <a:ln w="12700">
            <a:solidFill>
              <a:srgbClr val="ECE9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76072" y="758952"/>
            <a:ext cx="11201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10" b="1" spc="70" kern="0" dirty="0">
                <a:solidFill>
                  <a:srgbClr val="6B57E8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ROADMAP</a:t>
            </a:r>
            <a:endParaRPr lang="en-US" sz="81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133856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7152F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Validate the wedge. Expand the surfaces. Become the layer.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636776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D596D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Consumer proof creates the right to enter Arabic/GCC, mobile continuity, gaming, integrations and B2B.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6437376"/>
            <a:ext cx="11183112" cy="0"/>
          </a:xfrm>
          <a:prstGeom prst="line">
            <a:avLst/>
          </a:prstGeom>
          <a:noFill/>
          <a:ln w="8890">
            <a:solidFill>
              <a:srgbClr val="DEDBE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6483096"/>
            <a:ext cx="3063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30" b="1" spc="70" kern="0" dirty="0">
                <a:solidFill>
                  <a:srgbClr val="8A8798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AYO  •  CONFIDENTIAL  •  SADU CAPITAL</a:t>
            </a:r>
            <a:endParaRPr lang="en-US" sz="730" dirty="0"/>
          </a:p>
        </p:txBody>
      </p:sp>
      <p:sp>
        <p:nvSpPr>
          <p:cNvPr id="9" name="Text 7"/>
          <p:cNvSpPr txBox="1"/>
          <p:nvPr/>
        </p:nvSpPr>
        <p:spPr>
          <a:xfrm>
            <a:off x="3611880" y="6469380"/>
            <a:ext cx="7223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660" dirty="0">
                <a:solidFill>
                  <a:srgbClr val="8A8798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Target integrations are exploratory roadmap items; no partnership is implied.</a:t>
            </a:r>
            <a:endParaRPr lang="en-US" sz="660" dirty="0"/>
          </a:p>
        </p:txBody>
      </p:sp>
      <p:sp>
        <p:nvSpPr>
          <p:cNvPr id="10" name="Text 8"/>
          <p:cNvSpPr txBox="1"/>
          <p:nvPr/>
        </p:nvSpPr>
        <p:spPr>
          <a:xfrm>
            <a:off x="11274552" y="6469380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8A8798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13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566928" y="2240280"/>
            <a:ext cx="3346704" cy="2907792"/>
          </a:xfrm>
          <a:prstGeom prst="roundRect">
            <a:avLst>
              <a:gd name="adj" fmla="val 4088"/>
            </a:avLst>
          </a:prstGeom>
          <a:solidFill>
            <a:srgbClr val="FFFFFF"/>
          </a:solidFill>
          <a:ln w="12700">
            <a:solidFill>
              <a:srgbClr val="DEDB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" y="2240280"/>
            <a:ext cx="45720" cy="2907792"/>
          </a:xfrm>
          <a:prstGeom prst="rect">
            <a:avLst/>
          </a:prstGeom>
          <a:solidFill>
            <a:srgbClr val="6B57E8"/>
          </a:solidFill>
          <a:ln w="12700">
            <a:solidFill>
              <a:srgbClr val="6B57E8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86384" y="2505456"/>
            <a:ext cx="1133856" cy="256032"/>
          </a:xfrm>
          <a:prstGeom prst="roundRect">
            <a:avLst>
              <a:gd name="adj" fmla="val 50000"/>
            </a:avLst>
          </a:prstGeom>
          <a:solidFill>
            <a:srgbClr val="ECE9FF"/>
          </a:solidFill>
          <a:ln w="12700">
            <a:solidFill>
              <a:srgbClr val="ECE9FF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59536" y="2505456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20" b="1" spc="70" kern="0" dirty="0">
                <a:solidFill>
                  <a:srgbClr val="6B57E8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NOW → M5</a:t>
            </a:r>
            <a:endParaRPr lang="en-US" sz="720" dirty="0"/>
          </a:p>
        </p:txBody>
      </p:sp>
      <p:sp>
        <p:nvSpPr>
          <p:cNvPr id="15" name="Text 13"/>
          <p:cNvSpPr txBox="1"/>
          <p:nvPr/>
        </p:nvSpPr>
        <p:spPr>
          <a:xfrm>
            <a:off x="786384" y="2907792"/>
            <a:ext cx="2889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6B57E8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PROVE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04672" y="3511296"/>
            <a:ext cx="100584" cy="100584"/>
          </a:xfrm>
          <a:prstGeom prst="ellipse">
            <a:avLst/>
          </a:prstGeom>
          <a:solidFill>
            <a:srgbClr val="6B57E8"/>
          </a:solidFill>
          <a:ln w="10160">
            <a:solidFill>
              <a:srgbClr val="6B57E8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05840" y="3447288"/>
            <a:ext cx="26883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0" dirty="0">
                <a:solidFill>
                  <a:srgbClr val="5D596D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Windows reliability + trust</a:t>
            </a:r>
            <a:endParaRPr lang="en-US" sz="970" dirty="0"/>
          </a:p>
        </p:txBody>
      </p:sp>
      <p:sp>
        <p:nvSpPr>
          <p:cNvPr id="18" name="Shape 16"/>
          <p:cNvSpPr/>
          <p:nvPr/>
        </p:nvSpPr>
        <p:spPr>
          <a:xfrm>
            <a:off x="804672" y="3895344"/>
            <a:ext cx="100584" cy="100584"/>
          </a:xfrm>
          <a:prstGeom prst="ellipse">
            <a:avLst/>
          </a:prstGeom>
          <a:solidFill>
            <a:srgbClr val="6B57E8"/>
          </a:solidFill>
          <a:ln w="10160">
            <a:solidFill>
              <a:srgbClr val="6B57E8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05840" y="3831336"/>
            <a:ext cx="26883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0" dirty="0">
                <a:solidFill>
                  <a:srgbClr val="5D596D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Wake word, hover and silent mode</a:t>
            </a:r>
            <a:endParaRPr lang="en-US" sz="970" dirty="0"/>
          </a:p>
        </p:txBody>
      </p:sp>
      <p:sp>
        <p:nvSpPr>
          <p:cNvPr id="20" name="Shape 18"/>
          <p:cNvSpPr/>
          <p:nvPr/>
        </p:nvSpPr>
        <p:spPr>
          <a:xfrm>
            <a:off x="804672" y="4279392"/>
            <a:ext cx="100584" cy="100584"/>
          </a:xfrm>
          <a:prstGeom prst="ellipse">
            <a:avLst/>
          </a:prstGeom>
          <a:solidFill>
            <a:srgbClr val="6B57E8"/>
          </a:solidFill>
          <a:ln w="10160">
            <a:solidFill>
              <a:srgbClr val="6B57E8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05840" y="4215384"/>
            <a:ext cx="26883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0" dirty="0">
                <a:solidFill>
                  <a:srgbClr val="5D596D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Activation, paid conversion and retention</a:t>
            </a:r>
            <a:endParaRPr lang="en-US" sz="970" dirty="0"/>
          </a:p>
        </p:txBody>
      </p:sp>
      <p:sp>
        <p:nvSpPr>
          <p:cNvPr id="22" name="Shape 20"/>
          <p:cNvSpPr/>
          <p:nvPr/>
        </p:nvSpPr>
        <p:spPr>
          <a:xfrm>
            <a:off x="804672" y="4663440"/>
            <a:ext cx="100584" cy="100584"/>
          </a:xfrm>
          <a:prstGeom prst="ellipse">
            <a:avLst/>
          </a:prstGeom>
          <a:solidFill>
            <a:srgbClr val="6B57E8"/>
          </a:solidFill>
          <a:ln w="10160">
            <a:solidFill>
              <a:srgbClr val="6B57E8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05840" y="4599432"/>
            <a:ext cx="26883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0" dirty="0">
                <a:solidFill>
                  <a:srgbClr val="5D596D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Measurable creator acquisition</a:t>
            </a:r>
            <a:endParaRPr lang="en-US" sz="970" dirty="0"/>
          </a:p>
        </p:txBody>
      </p:sp>
      <p:sp>
        <p:nvSpPr>
          <p:cNvPr id="24" name="Shape 22"/>
          <p:cNvSpPr/>
          <p:nvPr/>
        </p:nvSpPr>
        <p:spPr>
          <a:xfrm>
            <a:off x="4123944" y="2240280"/>
            <a:ext cx="3346704" cy="2907792"/>
          </a:xfrm>
          <a:prstGeom prst="roundRect">
            <a:avLst>
              <a:gd name="adj" fmla="val 4088"/>
            </a:avLst>
          </a:prstGeom>
          <a:solidFill>
            <a:srgbClr val="FFFFFF"/>
          </a:solidFill>
          <a:ln w="12700">
            <a:solidFill>
              <a:srgbClr val="DEDBE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123944" y="2240280"/>
            <a:ext cx="45720" cy="2907792"/>
          </a:xfrm>
          <a:prstGeom prst="rect">
            <a:avLst/>
          </a:prstGeom>
          <a:solidFill>
            <a:srgbClr val="5BD6B0"/>
          </a:solidFill>
          <a:ln w="12700">
            <a:solidFill>
              <a:srgbClr val="5BD6B0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343400" y="2505456"/>
            <a:ext cx="1133856" cy="256032"/>
          </a:xfrm>
          <a:prstGeom prst="roundRect">
            <a:avLst>
              <a:gd name="adj" fmla="val 50000"/>
            </a:avLst>
          </a:prstGeom>
          <a:solidFill>
            <a:srgbClr val="E4F7F1"/>
          </a:solidFill>
          <a:ln w="12700">
            <a:solidFill>
              <a:srgbClr val="E4F7F1">
                <a:alpha val="0"/>
              </a:srgbClr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416552" y="2505456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20" b="1" spc="70" kern="0" dirty="0">
                <a:solidFill>
                  <a:srgbClr val="5BD6B0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M6 → M12</a:t>
            </a:r>
            <a:endParaRPr lang="en-US" sz="720" dirty="0"/>
          </a:p>
        </p:txBody>
      </p:sp>
      <p:sp>
        <p:nvSpPr>
          <p:cNvPr id="28" name="Text 26"/>
          <p:cNvSpPr txBox="1"/>
          <p:nvPr/>
        </p:nvSpPr>
        <p:spPr>
          <a:xfrm>
            <a:off x="4343400" y="2907792"/>
            <a:ext cx="2889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5BD6B0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EXPAND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4361688" y="3511296"/>
            <a:ext cx="100584" cy="100584"/>
          </a:xfrm>
          <a:prstGeom prst="ellipse">
            <a:avLst/>
          </a:prstGeom>
          <a:solidFill>
            <a:srgbClr val="5BD6B0"/>
          </a:solidFill>
          <a:ln w="10160">
            <a:solidFill>
              <a:srgbClr val="5BD6B0">
                <a:alpha val="0"/>
              </a:srgbClr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562856" y="3447288"/>
            <a:ext cx="26883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0" dirty="0">
                <a:solidFill>
                  <a:srgbClr val="5D596D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Arabic + multilingual experience</a:t>
            </a:r>
            <a:endParaRPr lang="en-US" sz="970" dirty="0"/>
          </a:p>
        </p:txBody>
      </p:sp>
      <p:sp>
        <p:nvSpPr>
          <p:cNvPr id="31" name="Shape 29"/>
          <p:cNvSpPr/>
          <p:nvPr/>
        </p:nvSpPr>
        <p:spPr>
          <a:xfrm>
            <a:off x="4361688" y="3895344"/>
            <a:ext cx="100584" cy="100584"/>
          </a:xfrm>
          <a:prstGeom prst="ellipse">
            <a:avLst/>
          </a:prstGeom>
          <a:solidFill>
            <a:srgbClr val="5BD6B0"/>
          </a:solidFill>
          <a:ln w="10160">
            <a:solidFill>
              <a:srgbClr val="5BD6B0">
                <a:alpha val="0"/>
              </a:srgb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562856" y="3831336"/>
            <a:ext cx="26883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0" dirty="0">
                <a:solidFill>
                  <a:srgbClr val="5D596D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Mobile companion + cross-device continuity</a:t>
            </a:r>
            <a:endParaRPr lang="en-US" sz="970" dirty="0"/>
          </a:p>
        </p:txBody>
      </p:sp>
      <p:sp>
        <p:nvSpPr>
          <p:cNvPr id="33" name="Shape 31"/>
          <p:cNvSpPr/>
          <p:nvPr/>
        </p:nvSpPr>
        <p:spPr>
          <a:xfrm>
            <a:off x="4361688" y="4279392"/>
            <a:ext cx="100584" cy="100584"/>
          </a:xfrm>
          <a:prstGeom prst="ellipse">
            <a:avLst/>
          </a:prstGeom>
          <a:solidFill>
            <a:srgbClr val="5BD6B0"/>
          </a:solidFill>
          <a:ln w="10160">
            <a:solidFill>
              <a:srgbClr val="5BD6B0">
                <a:alpha val="0"/>
              </a:srgbClr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562856" y="4215384"/>
            <a:ext cx="26883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0" dirty="0">
                <a:solidFill>
                  <a:srgbClr val="5D596D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Saudi/GCC creator and campus growth</a:t>
            </a:r>
            <a:endParaRPr lang="en-US" sz="970" dirty="0"/>
          </a:p>
        </p:txBody>
      </p:sp>
      <p:sp>
        <p:nvSpPr>
          <p:cNvPr id="35" name="Shape 33"/>
          <p:cNvSpPr/>
          <p:nvPr/>
        </p:nvSpPr>
        <p:spPr>
          <a:xfrm>
            <a:off x="4361688" y="4663440"/>
            <a:ext cx="100584" cy="100584"/>
          </a:xfrm>
          <a:prstGeom prst="ellipse">
            <a:avLst/>
          </a:prstGeom>
          <a:solidFill>
            <a:srgbClr val="5BD6B0"/>
          </a:solidFill>
          <a:ln w="10160">
            <a:solidFill>
              <a:srgbClr val="5BD6B0">
                <a:alpha val="0"/>
              </a:srgbClr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562856" y="4599432"/>
            <a:ext cx="26883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0" dirty="0">
                <a:solidFill>
                  <a:srgbClr val="5D596D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3–5 AYO for Teams design partners</a:t>
            </a:r>
            <a:endParaRPr lang="en-US" sz="970" dirty="0"/>
          </a:p>
        </p:txBody>
      </p:sp>
      <p:sp>
        <p:nvSpPr>
          <p:cNvPr id="37" name="Shape 35"/>
          <p:cNvSpPr/>
          <p:nvPr/>
        </p:nvSpPr>
        <p:spPr>
          <a:xfrm>
            <a:off x="7680960" y="2240280"/>
            <a:ext cx="3593592" cy="2907792"/>
          </a:xfrm>
          <a:prstGeom prst="roundRect">
            <a:avLst>
              <a:gd name="adj" fmla="val 4088"/>
            </a:avLst>
          </a:prstGeom>
          <a:solidFill>
            <a:srgbClr val="FFFFFF"/>
          </a:solidFill>
          <a:ln w="12700">
            <a:solidFill>
              <a:srgbClr val="DEDBE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680960" y="2240280"/>
            <a:ext cx="45720" cy="2907792"/>
          </a:xfrm>
          <a:prstGeom prst="rect">
            <a:avLst/>
          </a:prstGeom>
          <a:solidFill>
            <a:srgbClr val="FF8074"/>
          </a:solidFill>
          <a:ln w="12700">
            <a:solidFill>
              <a:srgbClr val="FF8074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900416" y="2505456"/>
            <a:ext cx="1133856" cy="256032"/>
          </a:xfrm>
          <a:prstGeom prst="roundRect">
            <a:avLst>
              <a:gd name="adj" fmla="val 50000"/>
            </a:avLst>
          </a:prstGeom>
          <a:solidFill>
            <a:srgbClr val="FFF0ED"/>
          </a:solidFill>
          <a:ln w="12700">
            <a:solidFill>
              <a:srgbClr val="FFF0ED">
                <a:alpha val="0"/>
              </a:srgbClr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973568" y="2505456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20" b="1" spc="70" kern="0" dirty="0">
                <a:solidFill>
                  <a:srgbClr val="FF8074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M12 → M18</a:t>
            </a:r>
            <a:endParaRPr lang="en-US" sz="720" dirty="0"/>
          </a:p>
        </p:txBody>
      </p:sp>
      <p:sp>
        <p:nvSpPr>
          <p:cNvPr id="41" name="Text 39"/>
          <p:cNvSpPr txBox="1"/>
          <p:nvPr/>
        </p:nvSpPr>
        <p:spPr>
          <a:xfrm>
            <a:off x="7900416" y="2907792"/>
            <a:ext cx="3136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8074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PLATFORM</a:t>
            </a:r>
            <a:endParaRPr lang="en-US" sz="2000" dirty="0"/>
          </a:p>
        </p:txBody>
      </p:sp>
      <p:sp>
        <p:nvSpPr>
          <p:cNvPr id="42" name="Shape 40"/>
          <p:cNvSpPr/>
          <p:nvPr/>
        </p:nvSpPr>
        <p:spPr>
          <a:xfrm>
            <a:off x="7918704" y="3511296"/>
            <a:ext cx="100584" cy="100584"/>
          </a:xfrm>
          <a:prstGeom prst="ellipse">
            <a:avLst/>
          </a:prstGeom>
          <a:solidFill>
            <a:srgbClr val="FF8074"/>
          </a:solidFill>
          <a:ln w="10160">
            <a:solidFill>
              <a:srgbClr val="FF8074">
                <a:alpha val="0"/>
              </a:srgbClr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119872" y="3447288"/>
            <a:ext cx="29352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0" dirty="0">
                <a:solidFill>
                  <a:srgbClr val="5D596D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Gaming mode + minimal contextual HUD</a:t>
            </a:r>
            <a:endParaRPr lang="en-US" sz="970" dirty="0"/>
          </a:p>
        </p:txBody>
      </p:sp>
      <p:sp>
        <p:nvSpPr>
          <p:cNvPr id="44" name="Shape 42"/>
          <p:cNvSpPr/>
          <p:nvPr/>
        </p:nvSpPr>
        <p:spPr>
          <a:xfrm>
            <a:off x="7918704" y="3895344"/>
            <a:ext cx="100584" cy="100584"/>
          </a:xfrm>
          <a:prstGeom prst="ellipse">
            <a:avLst/>
          </a:prstGeom>
          <a:solidFill>
            <a:srgbClr val="FF8074"/>
          </a:solidFill>
          <a:ln w="10160">
            <a:solidFill>
              <a:srgbClr val="FF8074">
                <a:alpha val="0"/>
              </a:srgbClr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8119872" y="3831336"/>
            <a:ext cx="29352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0" dirty="0">
                <a:solidFill>
                  <a:srgbClr val="5D596D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Enterprise controls and shared workflows</a:t>
            </a:r>
            <a:endParaRPr lang="en-US" sz="970" dirty="0"/>
          </a:p>
        </p:txBody>
      </p:sp>
      <p:sp>
        <p:nvSpPr>
          <p:cNvPr id="46" name="Shape 44"/>
          <p:cNvSpPr/>
          <p:nvPr/>
        </p:nvSpPr>
        <p:spPr>
          <a:xfrm>
            <a:off x="7918704" y="4279392"/>
            <a:ext cx="100584" cy="100584"/>
          </a:xfrm>
          <a:prstGeom prst="ellipse">
            <a:avLst/>
          </a:prstGeom>
          <a:solidFill>
            <a:srgbClr val="FF8074"/>
          </a:solidFill>
          <a:ln w="10160">
            <a:solidFill>
              <a:srgbClr val="FF8074">
                <a:alpha val="0"/>
              </a:srgbClr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8119872" y="4215384"/>
            <a:ext cx="29352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0" dirty="0">
                <a:solidFill>
                  <a:srgbClr val="5D596D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Tool-routing and integration marketplace</a:t>
            </a:r>
            <a:endParaRPr lang="en-US" sz="970" dirty="0"/>
          </a:p>
        </p:txBody>
      </p:sp>
      <p:sp>
        <p:nvSpPr>
          <p:cNvPr id="48" name="Shape 46"/>
          <p:cNvSpPr/>
          <p:nvPr/>
        </p:nvSpPr>
        <p:spPr>
          <a:xfrm>
            <a:off x="7918704" y="4663440"/>
            <a:ext cx="100584" cy="100584"/>
          </a:xfrm>
          <a:prstGeom prst="ellipse">
            <a:avLst/>
          </a:prstGeom>
          <a:solidFill>
            <a:srgbClr val="FF8074"/>
          </a:solidFill>
          <a:ln w="10160">
            <a:solidFill>
              <a:srgbClr val="FF8074">
                <a:alpha val="0"/>
              </a:srgbClr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8119872" y="4599432"/>
            <a:ext cx="29352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0" dirty="0">
                <a:solidFill>
                  <a:srgbClr val="5D596D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Mac/Linux readiness based on demand</a:t>
            </a:r>
            <a:endParaRPr lang="en-US" sz="970" dirty="0"/>
          </a:p>
        </p:txBody>
      </p:sp>
      <p:sp>
        <p:nvSpPr>
          <p:cNvPr id="50" name="Shape 48"/>
          <p:cNvSpPr/>
          <p:nvPr/>
        </p:nvSpPr>
        <p:spPr>
          <a:xfrm>
            <a:off x="3931920" y="3675888"/>
            <a:ext cx="164592" cy="0"/>
          </a:xfrm>
          <a:prstGeom prst="line">
            <a:avLst/>
          </a:prstGeom>
          <a:noFill/>
          <a:ln w="17780">
            <a:solidFill>
              <a:srgbClr val="DEDBE9"/>
            </a:solidFill>
            <a:prstDash val="solid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7488936" y="3675888"/>
            <a:ext cx="164592" cy="0"/>
          </a:xfrm>
          <a:prstGeom prst="line">
            <a:avLst/>
          </a:prstGeom>
          <a:noFill/>
          <a:ln w="17780">
            <a:solidFill>
              <a:srgbClr val="DEDBE9"/>
            </a:solidFill>
            <a:prstDash val="solid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566928" y="5413248"/>
            <a:ext cx="10707624" cy="502920"/>
          </a:xfrm>
          <a:prstGeom prst="roundRect">
            <a:avLst>
              <a:gd name="adj" fmla="val 23636"/>
            </a:avLst>
          </a:prstGeom>
          <a:solidFill>
            <a:srgbClr val="0E0D22"/>
          </a:solidFill>
          <a:ln w="12700">
            <a:solidFill>
              <a:srgbClr val="0E0D22">
                <a:alpha val="0"/>
              </a:srgbClr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841248" y="5550408"/>
            <a:ext cx="1810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90" b="1" spc="80" kern="0" dirty="0">
                <a:solidFill>
                  <a:srgbClr val="9B8AF3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TARGET WORKFLOW INTEGRATIONS</a:t>
            </a:r>
            <a:endParaRPr lang="en-US" sz="790" dirty="0"/>
          </a:p>
        </p:txBody>
      </p:sp>
      <p:sp>
        <p:nvSpPr>
          <p:cNvPr id="54" name="Text 52"/>
          <p:cNvSpPr txBox="1"/>
          <p:nvPr/>
        </p:nvSpPr>
        <p:spPr>
          <a:xfrm>
            <a:off x="2761488" y="5550408"/>
            <a:ext cx="8028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70" dirty="0">
                <a:solidFill>
                  <a:srgbClr val="FFFFFF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Illustrative targets: Higgsfield / video  •  Manus / presentations  •  Replit / apps &amp; sites  •  productivity + knowledge tools</a:t>
            </a:r>
            <a:endParaRPr lang="en-US" sz="87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56032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b="1" spc="70" kern="0" dirty="0">
                <a:solidFill>
                  <a:srgbClr val="FFFFFF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AYO.</a:t>
            </a:r>
            <a:endParaRPr lang="en-US" sz="1550" dirty="0"/>
          </a:p>
        </p:txBody>
      </p:sp>
      <p:sp>
        <p:nvSpPr>
          <p:cNvPr id="3" name="Shape 1"/>
          <p:cNvSpPr/>
          <p:nvPr/>
        </p:nvSpPr>
        <p:spPr>
          <a:xfrm>
            <a:off x="502920" y="758952"/>
            <a:ext cx="1842516" cy="256032"/>
          </a:xfrm>
          <a:prstGeom prst="roundRect">
            <a:avLst>
              <a:gd name="adj" fmla="val 50000"/>
            </a:avLst>
          </a:prstGeom>
          <a:solidFill>
            <a:srgbClr val="2B2750"/>
          </a:solidFill>
          <a:ln w="12700">
            <a:solidFill>
              <a:srgbClr val="2B2750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76072" y="758952"/>
            <a:ext cx="16962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10" b="1" spc="70" kern="0" dirty="0">
                <a:solidFill>
                  <a:srgbClr val="9B8AF3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B2B EXPANSION</a:t>
            </a:r>
            <a:endParaRPr lang="en-US" sz="81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133856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AYO for Teams turns personal productivity into an operating layer.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636776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B9B5CA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B2B is a natural expansion from individual adoption—not a pivot away from the consumer wedge.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6437376"/>
            <a:ext cx="11183112" cy="0"/>
          </a:xfrm>
          <a:prstGeom prst="line">
            <a:avLst/>
          </a:prstGeom>
          <a:noFill/>
          <a:ln w="8890">
            <a:solidFill>
              <a:srgbClr val="29264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6483096"/>
            <a:ext cx="3063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30" b="1" spc="70" kern="0" dirty="0">
                <a:solidFill>
                  <a:srgbClr val="77738E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AYO  •  CONFIDENTIAL  •  SADU CAPITAL</a:t>
            </a:r>
            <a:endParaRPr lang="en-US" sz="730" dirty="0"/>
          </a:p>
        </p:txBody>
      </p:sp>
      <p:sp>
        <p:nvSpPr>
          <p:cNvPr id="9" name="Text 7"/>
          <p:cNvSpPr txBox="1"/>
          <p:nvPr/>
        </p:nvSpPr>
        <p:spPr>
          <a:xfrm>
            <a:off x="11274552" y="6469380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77738E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14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566928" y="2221992"/>
            <a:ext cx="5687568" cy="3328416"/>
          </a:xfrm>
          <a:prstGeom prst="roundRect">
            <a:avLst>
              <a:gd name="adj" fmla="val 4396"/>
            </a:avLst>
          </a:prstGeom>
          <a:solidFill>
            <a:srgbClr val="17152F"/>
          </a:solidFill>
          <a:ln w="12700">
            <a:solidFill>
              <a:srgbClr val="302C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6928" y="2221992"/>
            <a:ext cx="5687568" cy="384048"/>
          </a:xfrm>
          <a:prstGeom prst="roundRect">
            <a:avLst>
              <a:gd name="adj" fmla="val 38095"/>
            </a:avLst>
          </a:prstGeom>
          <a:solidFill>
            <a:srgbClr val="211E3A"/>
          </a:solidFill>
          <a:ln w="12700">
            <a:solidFill>
              <a:srgbClr val="211E3A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3816" y="2304288"/>
            <a:ext cx="13898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b="1" spc="80" kern="0" dirty="0">
                <a:solidFill>
                  <a:srgbClr val="5BD6B0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AYO FOR TEAMS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832104" y="2898648"/>
            <a:ext cx="2167128" cy="950976"/>
          </a:xfrm>
          <a:prstGeom prst="roundRect">
            <a:avLst>
              <a:gd name="adj" fmla="val 12500"/>
            </a:avLst>
          </a:prstGeom>
          <a:solidFill>
            <a:srgbClr val="1E1B37"/>
          </a:solidFill>
          <a:ln w="12700">
            <a:solidFill>
              <a:srgbClr val="34305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24128" y="3081528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40" b="1" spc="50" kern="0" dirty="0">
                <a:solidFill>
                  <a:srgbClr val="9B8AF3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COMPANY KNOWLEDGE</a:t>
            </a:r>
            <a:endParaRPr lang="en-US" sz="740" dirty="0"/>
          </a:p>
        </p:txBody>
      </p:sp>
      <p:sp>
        <p:nvSpPr>
          <p:cNvPr id="15" name="Text 13"/>
          <p:cNvSpPr txBox="1"/>
          <p:nvPr/>
        </p:nvSpPr>
        <p:spPr>
          <a:xfrm>
            <a:off x="1024128" y="3392424"/>
            <a:ext cx="15727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10" b="1" dirty="0">
                <a:solidFill>
                  <a:srgbClr val="FFFFFF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Policies · files · SOPs</a:t>
            </a:r>
            <a:endParaRPr lang="en-US" sz="1010" dirty="0"/>
          </a:p>
        </p:txBody>
      </p:sp>
      <p:sp>
        <p:nvSpPr>
          <p:cNvPr id="16" name="Shape 14"/>
          <p:cNvSpPr/>
          <p:nvPr/>
        </p:nvSpPr>
        <p:spPr>
          <a:xfrm>
            <a:off x="3227832" y="2898648"/>
            <a:ext cx="2697480" cy="950976"/>
          </a:xfrm>
          <a:prstGeom prst="roundRect">
            <a:avLst>
              <a:gd name="adj" fmla="val 12500"/>
            </a:avLst>
          </a:prstGeom>
          <a:solidFill>
            <a:srgbClr val="1E1B37"/>
          </a:solidFill>
          <a:ln w="12700">
            <a:solidFill>
              <a:srgbClr val="34305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438144" y="3081528"/>
            <a:ext cx="1591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40" b="1" spc="50" kern="0" dirty="0">
                <a:solidFill>
                  <a:srgbClr val="51C6D9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APPROVED WORKFLOWS</a:t>
            </a:r>
            <a:endParaRPr lang="en-US" sz="740" dirty="0"/>
          </a:p>
        </p:txBody>
      </p:sp>
      <p:sp>
        <p:nvSpPr>
          <p:cNvPr id="18" name="Text 16"/>
          <p:cNvSpPr txBox="1"/>
          <p:nvPr/>
        </p:nvSpPr>
        <p:spPr>
          <a:xfrm>
            <a:off x="3438144" y="3392424"/>
            <a:ext cx="20574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10" b="1" dirty="0">
                <a:solidFill>
                  <a:srgbClr val="FFFFFF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Research → draft → approve → act</a:t>
            </a:r>
            <a:endParaRPr lang="en-US" sz="1010" dirty="0"/>
          </a:p>
        </p:txBody>
      </p:sp>
      <p:sp>
        <p:nvSpPr>
          <p:cNvPr id="19" name="Shape 17"/>
          <p:cNvSpPr/>
          <p:nvPr/>
        </p:nvSpPr>
        <p:spPr>
          <a:xfrm>
            <a:off x="832104" y="4096512"/>
            <a:ext cx="5093208" cy="1124712"/>
          </a:xfrm>
          <a:prstGeom prst="roundRect">
            <a:avLst>
              <a:gd name="adj" fmla="val 10569"/>
            </a:avLst>
          </a:prstGeom>
          <a:solidFill>
            <a:srgbClr val="1E1B37"/>
          </a:solidFill>
          <a:ln w="12700">
            <a:solidFill>
              <a:srgbClr val="34305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24128" y="429768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40" b="1" spc="50" kern="0" dirty="0">
                <a:solidFill>
                  <a:srgbClr val="FF8074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WORKFLOW ACTIVITY</a:t>
            </a:r>
            <a:endParaRPr lang="en-US" sz="740" dirty="0"/>
          </a:p>
        </p:txBody>
      </p:sp>
      <p:sp>
        <p:nvSpPr>
          <p:cNvPr id="21" name="Shape 19"/>
          <p:cNvSpPr/>
          <p:nvPr/>
        </p:nvSpPr>
        <p:spPr>
          <a:xfrm>
            <a:off x="1033272" y="4644695"/>
            <a:ext cx="448056" cy="256489"/>
          </a:xfrm>
          <a:prstGeom prst="roundRect">
            <a:avLst>
              <a:gd name="adj" fmla="val 17825"/>
            </a:avLst>
          </a:prstGeom>
          <a:solidFill>
            <a:srgbClr val="6B57E8"/>
          </a:solidFill>
          <a:ln w="12700">
            <a:solidFill>
              <a:srgbClr val="6B57E8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755648" y="4561210"/>
            <a:ext cx="448056" cy="339974"/>
          </a:xfrm>
          <a:prstGeom prst="roundRect">
            <a:avLst>
              <a:gd name="adj" fmla="val 13448"/>
            </a:avLst>
          </a:prstGeom>
          <a:solidFill>
            <a:srgbClr val="51C6D9"/>
          </a:solidFill>
          <a:ln w="12700">
            <a:solidFill>
              <a:srgbClr val="51C6D9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478024" y="4493819"/>
            <a:ext cx="448056" cy="407365"/>
          </a:xfrm>
          <a:prstGeom prst="roundRect">
            <a:avLst>
              <a:gd name="adj" fmla="val 11223"/>
            </a:avLst>
          </a:prstGeom>
          <a:solidFill>
            <a:srgbClr val="5BD6B0"/>
          </a:solidFill>
          <a:ln w="12700">
            <a:solidFill>
              <a:srgbClr val="5BD6B0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0" y="4587362"/>
            <a:ext cx="448056" cy="313822"/>
          </a:xfrm>
          <a:prstGeom prst="roundRect">
            <a:avLst>
              <a:gd name="adj" fmla="val 14569"/>
            </a:avLst>
          </a:prstGeom>
          <a:solidFill>
            <a:srgbClr val="FF8074"/>
          </a:solidFill>
          <a:ln w="12700">
            <a:solidFill>
              <a:srgbClr val="FF8074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922776" y="4444533"/>
            <a:ext cx="448056" cy="456651"/>
          </a:xfrm>
          <a:prstGeom prst="roundRect">
            <a:avLst>
              <a:gd name="adj" fmla="val 10204"/>
            </a:avLst>
          </a:prstGeom>
          <a:solidFill>
            <a:srgbClr val="9B8AF3"/>
          </a:solidFill>
          <a:ln w="12700">
            <a:solidFill>
              <a:srgbClr val="9B8AF3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45152" y="4522988"/>
            <a:ext cx="448056" cy="378196"/>
          </a:xfrm>
          <a:prstGeom prst="roundRect">
            <a:avLst>
              <a:gd name="adj" fmla="val 12089"/>
            </a:avLst>
          </a:prstGeom>
          <a:solidFill>
            <a:srgbClr val="51C6D9"/>
          </a:solidFill>
          <a:ln w="12700">
            <a:solidFill>
              <a:srgbClr val="51C6D9">
                <a:alpha val="0"/>
              </a:srgbClr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407408" y="5266944"/>
            <a:ext cx="1197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690" dirty="0">
                <a:solidFill>
                  <a:srgbClr val="77738E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Illustrative admin experience</a:t>
            </a:r>
            <a:endParaRPr lang="en-US" sz="690" dirty="0"/>
          </a:p>
        </p:txBody>
      </p:sp>
      <p:sp>
        <p:nvSpPr>
          <p:cNvPr id="28" name="Shape 26"/>
          <p:cNvSpPr/>
          <p:nvPr/>
        </p:nvSpPr>
        <p:spPr>
          <a:xfrm>
            <a:off x="6720840" y="2377440"/>
            <a:ext cx="356616" cy="356616"/>
          </a:xfrm>
          <a:prstGeom prst="ellipse">
            <a:avLst/>
          </a:prstGeom>
          <a:solidFill>
            <a:srgbClr val="6B57E8"/>
          </a:solidFill>
          <a:ln w="10160">
            <a:solidFill>
              <a:srgbClr val="6B57E8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720840" y="2372868"/>
            <a:ext cx="3566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1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7223760" y="2359152"/>
            <a:ext cx="1664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20" b="1" dirty="0">
                <a:solidFill>
                  <a:srgbClr val="FFFFFF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Shared knowledge</a:t>
            </a:r>
            <a:endParaRPr lang="en-US" sz="1220" dirty="0"/>
          </a:p>
        </p:txBody>
      </p:sp>
      <p:sp>
        <p:nvSpPr>
          <p:cNvPr id="31" name="Text 29"/>
          <p:cNvSpPr txBox="1"/>
          <p:nvPr/>
        </p:nvSpPr>
        <p:spPr>
          <a:xfrm>
            <a:off x="8759952" y="2359152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40" dirty="0">
                <a:solidFill>
                  <a:srgbClr val="B9B5CA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Company-approved context without repeated uploads</a:t>
            </a:r>
            <a:endParaRPr lang="en-US" sz="940" dirty="0"/>
          </a:p>
        </p:txBody>
      </p:sp>
      <p:sp>
        <p:nvSpPr>
          <p:cNvPr id="32" name="Shape 30"/>
          <p:cNvSpPr/>
          <p:nvPr/>
        </p:nvSpPr>
        <p:spPr>
          <a:xfrm>
            <a:off x="6720840" y="3163824"/>
            <a:ext cx="356616" cy="356616"/>
          </a:xfrm>
          <a:prstGeom prst="ellipse">
            <a:avLst/>
          </a:prstGeom>
          <a:solidFill>
            <a:srgbClr val="51C6D9"/>
          </a:solidFill>
          <a:ln w="10160">
            <a:solidFill>
              <a:srgbClr val="51C6D9">
                <a:alpha val="0"/>
              </a:srgbClr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720840" y="3159252"/>
            <a:ext cx="3566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2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7223760" y="3145536"/>
            <a:ext cx="1664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20" b="1" dirty="0">
                <a:solidFill>
                  <a:srgbClr val="FFFFFF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Permissions + audit</a:t>
            </a:r>
            <a:endParaRPr lang="en-US" sz="1220" dirty="0"/>
          </a:p>
        </p:txBody>
      </p:sp>
      <p:sp>
        <p:nvSpPr>
          <p:cNvPr id="35" name="Text 33"/>
          <p:cNvSpPr txBox="1"/>
          <p:nvPr/>
        </p:nvSpPr>
        <p:spPr>
          <a:xfrm>
            <a:off x="8759952" y="3145536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40" dirty="0">
                <a:solidFill>
                  <a:srgbClr val="B9B5CA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Control who can access data and execute actions</a:t>
            </a:r>
            <a:endParaRPr lang="en-US" sz="940" dirty="0"/>
          </a:p>
        </p:txBody>
      </p:sp>
      <p:sp>
        <p:nvSpPr>
          <p:cNvPr id="36" name="Shape 34"/>
          <p:cNvSpPr/>
          <p:nvPr/>
        </p:nvSpPr>
        <p:spPr>
          <a:xfrm>
            <a:off x="6720840" y="3950208"/>
            <a:ext cx="356616" cy="356616"/>
          </a:xfrm>
          <a:prstGeom prst="ellipse">
            <a:avLst/>
          </a:prstGeom>
          <a:solidFill>
            <a:srgbClr val="5BD6B0"/>
          </a:solidFill>
          <a:ln w="10160">
            <a:solidFill>
              <a:srgbClr val="5BD6B0">
                <a:alpha val="0"/>
              </a:srgbClr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720840" y="3945636"/>
            <a:ext cx="3566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3</a:t>
            </a:r>
            <a:endParaRPr lang="en-US" sz="1250" dirty="0"/>
          </a:p>
        </p:txBody>
      </p:sp>
      <p:sp>
        <p:nvSpPr>
          <p:cNvPr id="38" name="Text 36"/>
          <p:cNvSpPr txBox="1"/>
          <p:nvPr/>
        </p:nvSpPr>
        <p:spPr>
          <a:xfrm>
            <a:off x="7223760" y="3931920"/>
            <a:ext cx="1664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20" b="1" dirty="0">
                <a:solidFill>
                  <a:srgbClr val="FFFFFF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Workflow templates</a:t>
            </a:r>
            <a:endParaRPr lang="en-US" sz="1220" dirty="0"/>
          </a:p>
        </p:txBody>
      </p:sp>
      <p:sp>
        <p:nvSpPr>
          <p:cNvPr id="39" name="Text 37"/>
          <p:cNvSpPr txBox="1"/>
          <p:nvPr/>
        </p:nvSpPr>
        <p:spPr>
          <a:xfrm>
            <a:off x="8759952" y="3931920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40" dirty="0">
                <a:solidFill>
                  <a:srgbClr val="B9B5CA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Turn recurring tasks into approved, repeatable flows</a:t>
            </a:r>
            <a:endParaRPr lang="en-US" sz="940" dirty="0"/>
          </a:p>
        </p:txBody>
      </p:sp>
      <p:sp>
        <p:nvSpPr>
          <p:cNvPr id="40" name="Shape 38"/>
          <p:cNvSpPr/>
          <p:nvPr/>
        </p:nvSpPr>
        <p:spPr>
          <a:xfrm>
            <a:off x="6720840" y="4736592"/>
            <a:ext cx="356616" cy="356616"/>
          </a:xfrm>
          <a:prstGeom prst="ellipse">
            <a:avLst/>
          </a:prstGeom>
          <a:solidFill>
            <a:srgbClr val="FF8074"/>
          </a:solidFill>
          <a:ln w="10160">
            <a:solidFill>
              <a:srgbClr val="FF8074">
                <a:alpha val="0"/>
              </a:srgbClr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720840" y="4732020"/>
            <a:ext cx="35661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4</a:t>
            </a:r>
            <a:endParaRPr lang="en-US" sz="1250" dirty="0"/>
          </a:p>
        </p:txBody>
      </p:sp>
      <p:sp>
        <p:nvSpPr>
          <p:cNvPr id="42" name="Text 40"/>
          <p:cNvSpPr txBox="1"/>
          <p:nvPr/>
        </p:nvSpPr>
        <p:spPr>
          <a:xfrm>
            <a:off x="7223760" y="4718304"/>
            <a:ext cx="16642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20" b="1" dirty="0">
                <a:solidFill>
                  <a:srgbClr val="FFFFFF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Usage + billing</a:t>
            </a:r>
            <a:endParaRPr lang="en-US" sz="1220" dirty="0"/>
          </a:p>
        </p:txBody>
      </p:sp>
      <p:sp>
        <p:nvSpPr>
          <p:cNvPr id="43" name="Text 41"/>
          <p:cNvSpPr txBox="1"/>
          <p:nvPr/>
        </p:nvSpPr>
        <p:spPr>
          <a:xfrm>
            <a:off x="8759952" y="4718304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40" dirty="0">
                <a:solidFill>
                  <a:srgbClr val="B9B5CA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Admin visibility, seats, limits and team economics</a:t>
            </a:r>
            <a:endParaRPr lang="en-US" sz="940" dirty="0"/>
          </a:p>
        </p:txBody>
      </p:sp>
      <p:sp>
        <p:nvSpPr>
          <p:cNvPr id="44" name="Shape 42"/>
          <p:cNvSpPr/>
          <p:nvPr/>
        </p:nvSpPr>
        <p:spPr>
          <a:xfrm>
            <a:off x="6720840" y="5513832"/>
            <a:ext cx="987552" cy="256032"/>
          </a:xfrm>
          <a:prstGeom prst="roundRect">
            <a:avLst>
              <a:gd name="adj" fmla="val 50000"/>
            </a:avLst>
          </a:prstGeom>
          <a:solidFill>
            <a:srgbClr val="2B2750"/>
          </a:solidFill>
          <a:ln w="12700">
            <a:solidFill>
              <a:srgbClr val="2B2750">
                <a:alpha val="0"/>
              </a:srgbClr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793992" y="5513832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30" b="1" spc="70" kern="0" dirty="0">
                <a:solidFill>
                  <a:srgbClr val="9B8AF3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FIRST WEDGE</a:t>
            </a:r>
            <a:endParaRPr lang="en-US" sz="730" dirty="0"/>
          </a:p>
        </p:txBody>
      </p:sp>
      <p:sp>
        <p:nvSpPr>
          <p:cNvPr id="46" name="Text 44"/>
          <p:cNvSpPr txBox="1"/>
          <p:nvPr/>
        </p:nvSpPr>
        <p:spPr>
          <a:xfrm>
            <a:off x="7882128" y="5504688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30" b="1" dirty="0">
                <a:solidFill>
                  <a:srgbClr val="5BD6B0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3–5 Saudi/GCC design partners after M5 validation</a:t>
            </a:r>
            <a:endParaRPr lang="en-US" sz="103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56032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b="1" spc="70" kern="0" dirty="0">
                <a:solidFill>
                  <a:srgbClr val="0E0D22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AYO.</a:t>
            </a:r>
            <a:endParaRPr lang="en-US" sz="1550" dirty="0"/>
          </a:p>
        </p:txBody>
      </p:sp>
      <p:sp>
        <p:nvSpPr>
          <p:cNvPr id="3" name="Shape 1"/>
          <p:cNvSpPr/>
          <p:nvPr/>
        </p:nvSpPr>
        <p:spPr>
          <a:xfrm>
            <a:off x="502920" y="75895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ECE9FF"/>
          </a:solidFill>
          <a:ln w="12700">
            <a:solidFill>
              <a:srgbClr val="ECE9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76072" y="758952"/>
            <a:ext cx="905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10" b="1" spc="70" kern="0" dirty="0">
                <a:solidFill>
                  <a:srgbClr val="6B57E8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TEAM</a:t>
            </a:r>
            <a:endParaRPr lang="en-US" sz="81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133856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7152F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Founder-led execution with a deliberately lean core.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636776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D596D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Product, operations, engineering and growth are owned internally; advisors shorten the learning curve.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6437376"/>
            <a:ext cx="11183112" cy="0"/>
          </a:xfrm>
          <a:prstGeom prst="line">
            <a:avLst/>
          </a:prstGeom>
          <a:noFill/>
          <a:ln w="8890">
            <a:solidFill>
              <a:srgbClr val="DEDBE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6483096"/>
            <a:ext cx="3063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30" b="1" spc="70" kern="0" dirty="0">
                <a:solidFill>
                  <a:srgbClr val="8A8798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AYO  •  CONFIDENTIAL  •  SADU CAPITAL</a:t>
            </a:r>
            <a:endParaRPr lang="en-US" sz="730" dirty="0"/>
          </a:p>
        </p:txBody>
      </p:sp>
      <p:sp>
        <p:nvSpPr>
          <p:cNvPr id="9" name="Text 7"/>
          <p:cNvSpPr txBox="1"/>
          <p:nvPr/>
        </p:nvSpPr>
        <p:spPr>
          <a:xfrm>
            <a:off x="11274552" y="6469380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8A8798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15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566928" y="2322576"/>
            <a:ext cx="1965960" cy="2011680"/>
          </a:xfrm>
          <a:prstGeom prst="roundRect">
            <a:avLst>
              <a:gd name="adj" fmla="val 6047"/>
            </a:avLst>
          </a:prstGeom>
          <a:solidFill>
            <a:srgbClr val="FFFFFF"/>
          </a:solidFill>
          <a:ln w="12700">
            <a:solidFill>
              <a:srgbClr val="DEDBE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6928" y="2322576"/>
            <a:ext cx="45720" cy="2011680"/>
          </a:xfrm>
          <a:prstGeom prst="rect">
            <a:avLst/>
          </a:prstGeom>
          <a:solidFill>
            <a:srgbClr val="6B57E8"/>
          </a:solidFill>
          <a:ln w="12700">
            <a:solidFill>
              <a:srgbClr val="6B57E8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88720" y="2651760"/>
            <a:ext cx="731520" cy="731520"/>
          </a:xfrm>
          <a:prstGeom prst="ellipse">
            <a:avLst/>
          </a:prstGeom>
          <a:solidFill>
            <a:srgbClr val="6B57E8"/>
          </a:solidFill>
          <a:ln w="10160">
            <a:solidFill>
              <a:srgbClr val="6B57E8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188720" y="2788920"/>
            <a:ext cx="7315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OJ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68096" y="3566160"/>
            <a:ext cx="15636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7152F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Omar Jaber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768096" y="3904488"/>
            <a:ext cx="15636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10" dirty="0">
                <a:solidFill>
                  <a:srgbClr val="5D596D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CEO · Product &amp; vision</a:t>
            </a:r>
            <a:endParaRPr lang="en-US" sz="910" dirty="0"/>
          </a:p>
        </p:txBody>
      </p:sp>
      <p:sp>
        <p:nvSpPr>
          <p:cNvPr id="16" name="Shape 14"/>
          <p:cNvSpPr/>
          <p:nvPr/>
        </p:nvSpPr>
        <p:spPr>
          <a:xfrm>
            <a:off x="2816352" y="2322576"/>
            <a:ext cx="1965960" cy="2011680"/>
          </a:xfrm>
          <a:prstGeom prst="roundRect">
            <a:avLst>
              <a:gd name="adj" fmla="val 6047"/>
            </a:avLst>
          </a:prstGeom>
          <a:solidFill>
            <a:srgbClr val="FFFFFF"/>
          </a:solidFill>
          <a:ln w="12700">
            <a:solidFill>
              <a:srgbClr val="DEDBE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16352" y="2322576"/>
            <a:ext cx="45720" cy="2011680"/>
          </a:xfrm>
          <a:prstGeom prst="rect">
            <a:avLst/>
          </a:prstGeom>
          <a:solidFill>
            <a:srgbClr val="51C6D9"/>
          </a:solidFill>
          <a:ln w="12700">
            <a:solidFill>
              <a:srgbClr val="51C6D9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38144" y="2651760"/>
            <a:ext cx="731520" cy="731520"/>
          </a:xfrm>
          <a:prstGeom prst="ellipse">
            <a:avLst/>
          </a:prstGeom>
          <a:solidFill>
            <a:srgbClr val="51C6D9"/>
          </a:solidFill>
          <a:ln w="10160">
            <a:solidFill>
              <a:srgbClr val="51C6D9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438144" y="2788920"/>
            <a:ext cx="7315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AA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3017520" y="3566160"/>
            <a:ext cx="15636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7152F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Ayman Arafat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3017520" y="3904488"/>
            <a:ext cx="15636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10" dirty="0">
                <a:solidFill>
                  <a:srgbClr val="5D596D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COO / CFO · Operations</a:t>
            </a:r>
            <a:endParaRPr lang="en-US" sz="910" dirty="0"/>
          </a:p>
        </p:txBody>
      </p:sp>
      <p:sp>
        <p:nvSpPr>
          <p:cNvPr id="22" name="Shape 20"/>
          <p:cNvSpPr/>
          <p:nvPr/>
        </p:nvSpPr>
        <p:spPr>
          <a:xfrm>
            <a:off x="5065776" y="2322576"/>
            <a:ext cx="1965960" cy="2011680"/>
          </a:xfrm>
          <a:prstGeom prst="roundRect">
            <a:avLst>
              <a:gd name="adj" fmla="val 6047"/>
            </a:avLst>
          </a:prstGeom>
          <a:solidFill>
            <a:srgbClr val="FFFFFF"/>
          </a:solidFill>
          <a:ln w="12700">
            <a:solidFill>
              <a:srgbClr val="DEDBE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65776" y="2322576"/>
            <a:ext cx="45720" cy="2011680"/>
          </a:xfrm>
          <a:prstGeom prst="rect">
            <a:avLst/>
          </a:prstGeom>
          <a:solidFill>
            <a:srgbClr val="5BD6B0"/>
          </a:solidFill>
          <a:ln w="12700">
            <a:solidFill>
              <a:srgbClr val="5BD6B0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87568" y="2651760"/>
            <a:ext cx="731520" cy="731520"/>
          </a:xfrm>
          <a:prstGeom prst="ellipse">
            <a:avLst/>
          </a:prstGeom>
          <a:solidFill>
            <a:srgbClr val="5BD6B0"/>
          </a:solidFill>
          <a:ln w="10160">
            <a:solidFill>
              <a:srgbClr val="5BD6B0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687568" y="2788920"/>
            <a:ext cx="7315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YA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5266944" y="3566160"/>
            <a:ext cx="15636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7152F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Yazan Aydi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5266944" y="3904488"/>
            <a:ext cx="15636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10" dirty="0">
                <a:solidFill>
                  <a:srgbClr val="5D596D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CTO · Architecture</a:t>
            </a:r>
            <a:endParaRPr lang="en-US" sz="910" dirty="0"/>
          </a:p>
        </p:txBody>
      </p:sp>
      <p:sp>
        <p:nvSpPr>
          <p:cNvPr id="28" name="Shape 26"/>
          <p:cNvSpPr/>
          <p:nvPr/>
        </p:nvSpPr>
        <p:spPr>
          <a:xfrm>
            <a:off x="7315200" y="2322576"/>
            <a:ext cx="1965960" cy="2011680"/>
          </a:xfrm>
          <a:prstGeom prst="roundRect">
            <a:avLst>
              <a:gd name="adj" fmla="val 6047"/>
            </a:avLst>
          </a:prstGeom>
          <a:solidFill>
            <a:srgbClr val="FFFFFF"/>
          </a:solidFill>
          <a:ln w="12700">
            <a:solidFill>
              <a:srgbClr val="DEDBE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00" y="2322576"/>
            <a:ext cx="45720" cy="2011680"/>
          </a:xfrm>
          <a:prstGeom prst="rect">
            <a:avLst/>
          </a:prstGeom>
          <a:solidFill>
            <a:srgbClr val="FF8074"/>
          </a:solidFill>
          <a:ln w="12700">
            <a:solidFill>
              <a:srgbClr val="FF8074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936992" y="2651760"/>
            <a:ext cx="731520" cy="731520"/>
          </a:xfrm>
          <a:prstGeom prst="ellipse">
            <a:avLst/>
          </a:prstGeom>
          <a:solidFill>
            <a:srgbClr val="FF8074"/>
          </a:solidFill>
          <a:ln w="10160">
            <a:solidFill>
              <a:srgbClr val="FF8074">
                <a:alpha val="0"/>
              </a:srgbClr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936992" y="2788920"/>
            <a:ext cx="7315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Q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7516368" y="3566160"/>
            <a:ext cx="15636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7152F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Qusay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7516368" y="3904488"/>
            <a:ext cx="15636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10" dirty="0">
                <a:solidFill>
                  <a:srgbClr val="5D596D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Product engineering</a:t>
            </a:r>
            <a:endParaRPr lang="en-US" sz="910" dirty="0"/>
          </a:p>
        </p:txBody>
      </p:sp>
      <p:sp>
        <p:nvSpPr>
          <p:cNvPr id="34" name="Shape 32"/>
          <p:cNvSpPr/>
          <p:nvPr/>
        </p:nvSpPr>
        <p:spPr>
          <a:xfrm>
            <a:off x="9564624" y="2322576"/>
            <a:ext cx="1965960" cy="2011680"/>
          </a:xfrm>
          <a:prstGeom prst="roundRect">
            <a:avLst>
              <a:gd name="adj" fmla="val 6047"/>
            </a:avLst>
          </a:prstGeom>
          <a:solidFill>
            <a:srgbClr val="FFFFFF"/>
          </a:solidFill>
          <a:ln w="12700">
            <a:solidFill>
              <a:srgbClr val="DEDBE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564624" y="2322576"/>
            <a:ext cx="45720" cy="2011680"/>
          </a:xfrm>
          <a:prstGeom prst="rect">
            <a:avLst/>
          </a:prstGeom>
          <a:solidFill>
            <a:srgbClr val="9B8AF3"/>
          </a:solidFill>
          <a:ln w="12700">
            <a:solidFill>
              <a:srgbClr val="9B8AF3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186416" y="2651760"/>
            <a:ext cx="731520" cy="731520"/>
          </a:xfrm>
          <a:prstGeom prst="ellipse">
            <a:avLst/>
          </a:prstGeom>
          <a:solidFill>
            <a:srgbClr val="9B8AF3"/>
          </a:solidFill>
          <a:ln w="10160">
            <a:solidFill>
              <a:srgbClr val="9B8AF3">
                <a:alpha val="0"/>
              </a:srgbClr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10186416" y="2788920"/>
            <a:ext cx="7315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Q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9765792" y="3566160"/>
            <a:ext cx="15636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7152F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Qais</a:t>
            </a:r>
            <a:endParaRPr lang="en-US" sz="1250" dirty="0"/>
          </a:p>
        </p:txBody>
      </p:sp>
      <p:sp>
        <p:nvSpPr>
          <p:cNvPr id="39" name="Text 37"/>
          <p:cNvSpPr txBox="1"/>
          <p:nvPr/>
        </p:nvSpPr>
        <p:spPr>
          <a:xfrm>
            <a:off x="9765792" y="3904488"/>
            <a:ext cx="15636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10" dirty="0">
                <a:solidFill>
                  <a:srgbClr val="5D596D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Growth &amp; marketing</a:t>
            </a:r>
            <a:endParaRPr lang="en-US" sz="910" dirty="0"/>
          </a:p>
        </p:txBody>
      </p:sp>
      <p:sp>
        <p:nvSpPr>
          <p:cNvPr id="40" name="Shape 38"/>
          <p:cNvSpPr/>
          <p:nvPr/>
        </p:nvSpPr>
        <p:spPr>
          <a:xfrm>
            <a:off x="566928" y="4654296"/>
            <a:ext cx="11064240" cy="905256"/>
          </a:xfrm>
          <a:prstGeom prst="roundRect">
            <a:avLst>
              <a:gd name="adj" fmla="val 13131"/>
            </a:avLst>
          </a:prstGeom>
          <a:solidFill>
            <a:srgbClr val="0E0D22"/>
          </a:solidFill>
          <a:ln w="12700">
            <a:solidFill>
              <a:srgbClr val="0E0D22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41248" y="4919472"/>
            <a:ext cx="1408176" cy="256032"/>
          </a:xfrm>
          <a:prstGeom prst="roundRect">
            <a:avLst>
              <a:gd name="adj" fmla="val 50000"/>
            </a:avLst>
          </a:prstGeom>
          <a:solidFill>
            <a:srgbClr val="2B2750"/>
          </a:solidFill>
          <a:ln w="12700">
            <a:solidFill>
              <a:srgbClr val="2B2750">
                <a:alpha val="0"/>
              </a:srgbClr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914400" y="4919472"/>
            <a:ext cx="1261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20" b="1" spc="70" kern="0" dirty="0">
                <a:solidFill>
                  <a:srgbClr val="9B8AF3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ADVISORY BACKBONE</a:t>
            </a:r>
            <a:endParaRPr lang="en-US" sz="720" dirty="0"/>
          </a:p>
        </p:txBody>
      </p:sp>
      <p:sp>
        <p:nvSpPr>
          <p:cNvPr id="43" name="Text 41"/>
          <p:cNvSpPr txBox="1"/>
          <p:nvPr/>
        </p:nvSpPr>
        <p:spPr>
          <a:xfrm>
            <a:off x="2496312" y="4837176"/>
            <a:ext cx="1408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Middleframe CEO</a:t>
            </a:r>
            <a:endParaRPr lang="en-US" sz="1150" dirty="0"/>
          </a:p>
        </p:txBody>
      </p:sp>
      <p:sp>
        <p:nvSpPr>
          <p:cNvPr id="44" name="Text 42"/>
          <p:cNvSpPr txBox="1"/>
          <p:nvPr/>
        </p:nvSpPr>
        <p:spPr>
          <a:xfrm>
            <a:off x="2496312" y="5111496"/>
            <a:ext cx="31638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B9B5CA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Strategic product, positioning and company-building guidance</a:t>
            </a:r>
            <a:endParaRPr lang="en-US" sz="880" dirty="0"/>
          </a:p>
        </p:txBody>
      </p:sp>
      <p:sp>
        <p:nvSpPr>
          <p:cNvPr id="45" name="Shape 43"/>
          <p:cNvSpPr/>
          <p:nvPr/>
        </p:nvSpPr>
        <p:spPr>
          <a:xfrm>
            <a:off x="6007608" y="4818888"/>
            <a:ext cx="0" cy="521208"/>
          </a:xfrm>
          <a:prstGeom prst="line">
            <a:avLst/>
          </a:prstGeom>
          <a:noFill/>
          <a:ln w="12700">
            <a:solidFill>
              <a:srgbClr val="35314F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318504" y="4837176"/>
            <a:ext cx="1408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Orange Corners</a:t>
            </a:r>
            <a:endParaRPr lang="en-US" sz="1150" dirty="0"/>
          </a:p>
        </p:txBody>
      </p:sp>
      <p:sp>
        <p:nvSpPr>
          <p:cNvPr id="47" name="Text 45"/>
          <p:cNvSpPr txBox="1"/>
          <p:nvPr/>
        </p:nvSpPr>
        <p:spPr>
          <a:xfrm>
            <a:off x="6318504" y="5111496"/>
            <a:ext cx="3401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B9B5CA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Continued tailored mentoring and ecosystem support</a:t>
            </a:r>
            <a:endParaRPr lang="en-US" sz="88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56032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b="1" spc="70" kern="0" dirty="0">
                <a:solidFill>
                  <a:srgbClr val="FFFFFF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AYO.</a:t>
            </a:r>
            <a:endParaRPr lang="en-US" sz="1550" dirty="0"/>
          </a:p>
        </p:txBody>
      </p:sp>
      <p:sp>
        <p:nvSpPr>
          <p:cNvPr id="3" name="Shape 1"/>
          <p:cNvSpPr/>
          <p:nvPr/>
        </p:nvSpPr>
        <p:spPr>
          <a:xfrm>
            <a:off x="502920" y="758952"/>
            <a:ext cx="1458468" cy="256032"/>
          </a:xfrm>
          <a:prstGeom prst="roundRect">
            <a:avLst>
              <a:gd name="adj" fmla="val 50000"/>
            </a:avLst>
          </a:prstGeom>
          <a:solidFill>
            <a:srgbClr val="2B2750"/>
          </a:solidFill>
          <a:ln w="12700">
            <a:solidFill>
              <a:srgbClr val="2B2750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76072" y="758952"/>
            <a:ext cx="13121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10" b="1" spc="70" kern="0" dirty="0">
                <a:solidFill>
                  <a:srgbClr val="9B8AF3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THE ROUND</a:t>
            </a:r>
            <a:endParaRPr lang="en-US" sz="81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133856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The first $75K proves AYO. The remaining $425K scales it.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636776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B9B5CA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AYO is raising a $500K pre-seed round with deployment gated by evidence from the five-month plan.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6437376"/>
            <a:ext cx="11183112" cy="0"/>
          </a:xfrm>
          <a:prstGeom prst="line">
            <a:avLst/>
          </a:prstGeom>
          <a:noFill/>
          <a:ln w="8890">
            <a:solidFill>
              <a:srgbClr val="29264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6483096"/>
            <a:ext cx="3063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30" b="1" spc="70" kern="0" dirty="0">
                <a:solidFill>
                  <a:srgbClr val="77738E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AYO  •  CONFIDENTIAL  •  SADU CAPITAL</a:t>
            </a:r>
            <a:endParaRPr lang="en-US" sz="730" dirty="0"/>
          </a:p>
        </p:txBody>
      </p:sp>
      <p:sp>
        <p:nvSpPr>
          <p:cNvPr id="9" name="Text 7"/>
          <p:cNvSpPr txBox="1"/>
          <p:nvPr/>
        </p:nvSpPr>
        <p:spPr>
          <a:xfrm>
            <a:off x="3611880" y="6469380"/>
            <a:ext cx="7223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660" dirty="0">
                <a:solidFill>
                  <a:srgbClr val="77738E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Financing status as of August 2026; future participation remains subject to diligence and approval.</a:t>
            </a:r>
            <a:endParaRPr lang="en-US" sz="660" dirty="0"/>
          </a:p>
        </p:txBody>
      </p:sp>
      <p:sp>
        <p:nvSpPr>
          <p:cNvPr id="10" name="Text 8"/>
          <p:cNvSpPr txBox="1"/>
          <p:nvPr/>
        </p:nvSpPr>
        <p:spPr>
          <a:xfrm>
            <a:off x="11274552" y="6469380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77738E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16</a:t>
            </a:r>
            <a:endParaRPr lang="en-US" sz="75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2203704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$500K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" y="2706624"/>
            <a:ext cx="1975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20" dirty="0">
                <a:solidFill>
                  <a:srgbClr val="918CA6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total pre-seed target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566928" y="3044952"/>
            <a:ext cx="4901184" cy="329184"/>
          </a:xfrm>
          <a:prstGeom prst="roundRect">
            <a:avLst>
              <a:gd name="adj" fmla="val 50000"/>
            </a:avLst>
          </a:prstGeom>
          <a:solidFill>
            <a:srgbClr val="282449"/>
          </a:solidFill>
          <a:ln w="12700">
            <a:solidFill>
              <a:srgbClr val="282449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6928" y="3044952"/>
            <a:ext cx="731520" cy="329184"/>
          </a:xfrm>
          <a:prstGeom prst="roundRect">
            <a:avLst>
              <a:gd name="adj" fmla="val 50000"/>
            </a:avLst>
          </a:prstGeom>
          <a:solidFill>
            <a:srgbClr val="6B57E8"/>
          </a:solidFill>
          <a:ln w="12700">
            <a:solidFill>
              <a:srgbClr val="6B57E8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03504" y="3118104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20" b="1" dirty="0">
                <a:solidFill>
                  <a:srgbClr val="FFFFFF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$75K  •  15%</a:t>
            </a:r>
            <a:endParaRPr lang="en-US" sz="720" dirty="0"/>
          </a:p>
        </p:txBody>
      </p:sp>
      <p:sp>
        <p:nvSpPr>
          <p:cNvPr id="16" name="Text 14"/>
          <p:cNvSpPr txBox="1"/>
          <p:nvPr/>
        </p:nvSpPr>
        <p:spPr>
          <a:xfrm>
            <a:off x="3886200" y="3474720"/>
            <a:ext cx="15910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5BD6B0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$425K OPEN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66928" y="3977640"/>
            <a:ext cx="4901184" cy="1389888"/>
          </a:xfrm>
          <a:prstGeom prst="roundRect">
            <a:avLst>
              <a:gd name="adj" fmla="val 8553"/>
            </a:avLst>
          </a:prstGeom>
          <a:solidFill>
            <a:srgbClr val="17152F"/>
          </a:solidFill>
          <a:ln w="12700">
            <a:solidFill>
              <a:srgbClr val="2C294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41248" y="4261104"/>
            <a:ext cx="941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9B8AF3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$15K</a:t>
            </a:r>
            <a:endParaRPr lang="en-US" sz="2100" dirty="0"/>
          </a:p>
        </p:txBody>
      </p:sp>
      <p:sp>
        <p:nvSpPr>
          <p:cNvPr id="19" name="Text 17"/>
          <p:cNvSpPr txBox="1"/>
          <p:nvPr/>
        </p:nvSpPr>
        <p:spPr>
          <a:xfrm>
            <a:off x="1719072" y="4215384"/>
            <a:ext cx="103327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B9B5CA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Angel SAFE</a:t>
            </a:r>
            <a:endParaRPr lang="en-US" sz="88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80" dirty="0">
                <a:solidFill>
                  <a:srgbClr val="B9B5CA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committed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2907792" y="4178808"/>
            <a:ext cx="0" cy="667512"/>
          </a:xfrm>
          <a:prstGeom prst="line">
            <a:avLst/>
          </a:prstGeom>
          <a:noFill/>
          <a:ln w="12700">
            <a:solidFill>
              <a:srgbClr val="35314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200400" y="4261104"/>
            <a:ext cx="969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5BD6B0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$60K</a:t>
            </a:r>
            <a:endParaRPr lang="en-US" sz="2100" dirty="0"/>
          </a:p>
        </p:txBody>
      </p:sp>
      <p:sp>
        <p:nvSpPr>
          <p:cNvPr id="22" name="Text 20"/>
          <p:cNvSpPr txBox="1"/>
          <p:nvPr/>
        </p:nvSpPr>
        <p:spPr>
          <a:xfrm>
            <a:off x="4069080" y="4187952"/>
            <a:ext cx="120700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B9B5CA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Ibtikar plan accepted</a:t>
            </a:r>
            <a:endParaRPr lang="en-US" sz="8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B9B5CA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closing documentation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832104" y="4928616"/>
            <a:ext cx="4325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20" b="1" dirty="0">
                <a:solidFill>
                  <a:srgbClr val="51C6D9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Proposed role for Sadu: lead or co-lead the balance, with milestone-based deployment after M5 evidence.</a:t>
            </a:r>
            <a:endParaRPr lang="en-US" sz="920" dirty="0"/>
          </a:p>
        </p:txBody>
      </p:sp>
      <p:sp>
        <p:nvSpPr>
          <p:cNvPr id="24" name="Text 22"/>
          <p:cNvSpPr txBox="1"/>
          <p:nvPr/>
        </p:nvSpPr>
        <p:spPr>
          <a:xfrm>
            <a:off x="5943600" y="2221992"/>
            <a:ext cx="1901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20" b="1" spc="80" kern="0" dirty="0">
                <a:solidFill>
                  <a:srgbClr val="9B8AF3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$425K USE OF FUNDS</a:t>
            </a:r>
            <a:endParaRPr lang="en-US" sz="920" dirty="0"/>
          </a:p>
        </p:txBody>
      </p:sp>
      <p:sp>
        <p:nvSpPr>
          <p:cNvPr id="25" name="Text 23"/>
          <p:cNvSpPr txBox="1"/>
          <p:nvPr/>
        </p:nvSpPr>
        <p:spPr>
          <a:xfrm>
            <a:off x="5943600" y="2642616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6B57E8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35%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629400" y="2697480"/>
            <a:ext cx="1335024" cy="109728"/>
          </a:xfrm>
          <a:prstGeom prst="roundRect">
            <a:avLst>
              <a:gd name="adj" fmla="val 50000"/>
            </a:avLst>
          </a:prstGeom>
          <a:solidFill>
            <a:srgbClr val="2B2843"/>
          </a:solidFill>
          <a:ln w="12700">
            <a:solidFill>
              <a:srgbClr val="2B2843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629400" y="2697480"/>
            <a:ext cx="1335024" cy="109728"/>
          </a:xfrm>
          <a:prstGeom prst="roundRect">
            <a:avLst>
              <a:gd name="adj" fmla="val 50000"/>
            </a:avLst>
          </a:prstGeom>
          <a:solidFill>
            <a:srgbClr val="6B57E8"/>
          </a:solidFill>
          <a:ln w="12700">
            <a:solidFill>
              <a:srgbClr val="6B57E8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174736" y="2633472"/>
            <a:ext cx="25237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90" b="1" dirty="0">
                <a:solidFill>
                  <a:srgbClr val="FFFFFF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Core product + engineering</a:t>
            </a:r>
            <a:endParaRPr lang="en-US" sz="990" dirty="0"/>
          </a:p>
        </p:txBody>
      </p:sp>
      <p:sp>
        <p:nvSpPr>
          <p:cNvPr id="29" name="Text 27"/>
          <p:cNvSpPr txBox="1"/>
          <p:nvPr/>
        </p:nvSpPr>
        <p:spPr>
          <a:xfrm>
            <a:off x="5943600" y="3163824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51C6D9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30%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629400" y="3218688"/>
            <a:ext cx="1335024" cy="109728"/>
          </a:xfrm>
          <a:prstGeom prst="roundRect">
            <a:avLst>
              <a:gd name="adj" fmla="val 50000"/>
            </a:avLst>
          </a:prstGeom>
          <a:solidFill>
            <a:srgbClr val="2B2843"/>
          </a:solidFill>
          <a:ln w="12700">
            <a:solidFill>
              <a:srgbClr val="2B2843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629400" y="3218688"/>
            <a:ext cx="1144306" cy="109728"/>
          </a:xfrm>
          <a:prstGeom prst="roundRect">
            <a:avLst>
              <a:gd name="adj" fmla="val 50000"/>
            </a:avLst>
          </a:prstGeom>
          <a:solidFill>
            <a:srgbClr val="51C6D9"/>
          </a:solidFill>
          <a:ln w="12700">
            <a:solidFill>
              <a:srgbClr val="51C6D9">
                <a:alpha val="0"/>
              </a:srgb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174736" y="3154680"/>
            <a:ext cx="25237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90" b="1" dirty="0">
                <a:solidFill>
                  <a:srgbClr val="FFFFFF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Growth + distribution</a:t>
            </a:r>
            <a:endParaRPr lang="en-US" sz="990" dirty="0"/>
          </a:p>
        </p:txBody>
      </p:sp>
      <p:sp>
        <p:nvSpPr>
          <p:cNvPr id="33" name="Text 31"/>
          <p:cNvSpPr txBox="1"/>
          <p:nvPr/>
        </p:nvSpPr>
        <p:spPr>
          <a:xfrm>
            <a:off x="5943600" y="3685032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5BD6B0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15%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629400" y="3739896"/>
            <a:ext cx="1335024" cy="109728"/>
          </a:xfrm>
          <a:prstGeom prst="roundRect">
            <a:avLst>
              <a:gd name="adj" fmla="val 50000"/>
            </a:avLst>
          </a:prstGeom>
          <a:solidFill>
            <a:srgbClr val="2B2843"/>
          </a:solidFill>
          <a:ln w="12700">
            <a:solidFill>
              <a:srgbClr val="2B2843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629400" y="3739896"/>
            <a:ext cx="572153" cy="109728"/>
          </a:xfrm>
          <a:prstGeom prst="roundRect">
            <a:avLst>
              <a:gd name="adj" fmla="val 50000"/>
            </a:avLst>
          </a:prstGeom>
          <a:solidFill>
            <a:srgbClr val="5BD6B0"/>
          </a:solidFill>
          <a:ln w="12700">
            <a:solidFill>
              <a:srgbClr val="5BD6B0">
                <a:alpha val="0"/>
              </a:srgbClr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174736" y="3675888"/>
            <a:ext cx="25237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90" b="1" dirty="0">
                <a:solidFill>
                  <a:srgbClr val="FFFFFF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AYO for Teams</a:t>
            </a:r>
            <a:endParaRPr lang="en-US" sz="990" dirty="0"/>
          </a:p>
        </p:txBody>
      </p:sp>
      <p:sp>
        <p:nvSpPr>
          <p:cNvPr id="37" name="Text 35"/>
          <p:cNvSpPr txBox="1"/>
          <p:nvPr/>
        </p:nvSpPr>
        <p:spPr>
          <a:xfrm>
            <a:off x="5943600" y="4206240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8074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10%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6629400" y="4261104"/>
            <a:ext cx="1335024" cy="109728"/>
          </a:xfrm>
          <a:prstGeom prst="roundRect">
            <a:avLst>
              <a:gd name="adj" fmla="val 50000"/>
            </a:avLst>
          </a:prstGeom>
          <a:solidFill>
            <a:srgbClr val="2B2843"/>
          </a:solidFill>
          <a:ln w="12700">
            <a:solidFill>
              <a:srgbClr val="2B2843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629400" y="4261104"/>
            <a:ext cx="381435" cy="109728"/>
          </a:xfrm>
          <a:prstGeom prst="roundRect">
            <a:avLst>
              <a:gd name="adj" fmla="val 50000"/>
            </a:avLst>
          </a:prstGeom>
          <a:solidFill>
            <a:srgbClr val="FF8074"/>
          </a:solidFill>
          <a:ln w="12700">
            <a:solidFill>
              <a:srgbClr val="FF8074">
                <a:alpha val="0"/>
              </a:srgbClr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174736" y="4197096"/>
            <a:ext cx="25237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90" b="1" dirty="0">
                <a:solidFill>
                  <a:srgbClr val="FFFFFF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Arabic + GCC + mobile</a:t>
            </a:r>
            <a:endParaRPr lang="en-US" sz="990" dirty="0"/>
          </a:p>
        </p:txBody>
      </p:sp>
      <p:sp>
        <p:nvSpPr>
          <p:cNvPr id="41" name="Text 39"/>
          <p:cNvSpPr txBox="1"/>
          <p:nvPr/>
        </p:nvSpPr>
        <p:spPr>
          <a:xfrm>
            <a:off x="5943600" y="4727448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9B8AF3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10%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6629400" y="4782312"/>
            <a:ext cx="1335024" cy="109728"/>
          </a:xfrm>
          <a:prstGeom prst="roundRect">
            <a:avLst>
              <a:gd name="adj" fmla="val 50000"/>
            </a:avLst>
          </a:prstGeom>
          <a:solidFill>
            <a:srgbClr val="2B2843"/>
          </a:solidFill>
          <a:ln w="12700">
            <a:solidFill>
              <a:srgbClr val="2B2843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629400" y="4782312"/>
            <a:ext cx="381435" cy="109728"/>
          </a:xfrm>
          <a:prstGeom prst="roundRect">
            <a:avLst>
              <a:gd name="adj" fmla="val 50000"/>
            </a:avLst>
          </a:prstGeom>
          <a:solidFill>
            <a:srgbClr val="9B8AF3"/>
          </a:solidFill>
          <a:ln w="12700">
            <a:solidFill>
              <a:srgbClr val="9B8AF3">
                <a:alpha val="0"/>
              </a:srgbClr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8174736" y="4718304"/>
            <a:ext cx="25237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90" b="1" dirty="0">
                <a:solidFill>
                  <a:srgbClr val="FFFFFF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Security, legal + operations</a:t>
            </a:r>
            <a:endParaRPr lang="en-US" sz="990" dirty="0"/>
          </a:p>
        </p:txBody>
      </p:sp>
      <p:sp>
        <p:nvSpPr>
          <p:cNvPr id="45" name="Shape 43"/>
          <p:cNvSpPr/>
          <p:nvPr/>
        </p:nvSpPr>
        <p:spPr>
          <a:xfrm>
            <a:off x="5943600" y="5349240"/>
            <a:ext cx="5669280" cy="466344"/>
          </a:xfrm>
          <a:prstGeom prst="roundRect">
            <a:avLst>
              <a:gd name="adj" fmla="val 25490"/>
            </a:avLst>
          </a:prstGeom>
          <a:solidFill>
            <a:srgbClr val="1C1938"/>
          </a:solidFill>
          <a:ln w="12700">
            <a:solidFill>
              <a:srgbClr val="35314F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199632" y="5477256"/>
            <a:ext cx="5166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20" b="1" dirty="0">
                <a:solidFill>
                  <a:srgbClr val="5BD6B0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18-month scale plan  •  product-led B2C → Arabic/GCC → Teams</a:t>
            </a:r>
            <a:endParaRPr lang="en-US" sz="920" dirty="0"/>
          </a:p>
        </p:txBody>
      </p:sp>
      <p:sp>
        <p:nvSpPr>
          <p:cNvPr id="47" name="Text 45"/>
          <p:cNvSpPr txBox="1"/>
          <p:nvPr/>
        </p:nvSpPr>
        <p:spPr>
          <a:xfrm>
            <a:off x="603504" y="5907024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Build the easiest way to use AI—then make it the new way people use computers.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56032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b="1" spc="70" kern="0" dirty="0">
                <a:solidFill>
                  <a:srgbClr val="0E0D22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AYO.</a:t>
            </a:r>
            <a:endParaRPr lang="en-US" sz="1550" dirty="0"/>
          </a:p>
        </p:txBody>
      </p:sp>
      <p:sp>
        <p:nvSpPr>
          <p:cNvPr id="3" name="Shape 1"/>
          <p:cNvSpPr/>
          <p:nvPr/>
        </p:nvSpPr>
        <p:spPr>
          <a:xfrm>
            <a:off x="502920" y="758952"/>
            <a:ext cx="1362456" cy="256032"/>
          </a:xfrm>
          <a:prstGeom prst="roundRect">
            <a:avLst>
              <a:gd name="adj" fmla="val 50000"/>
            </a:avLst>
          </a:prstGeom>
          <a:solidFill>
            <a:srgbClr val="ECE9FF"/>
          </a:solidFill>
          <a:ln w="12700">
            <a:solidFill>
              <a:srgbClr val="ECE9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76072" y="758952"/>
            <a:ext cx="1216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10" b="1" spc="70" kern="0" dirty="0">
                <a:solidFill>
                  <a:srgbClr val="6B57E8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APPENDIX</a:t>
            </a:r>
            <a:endParaRPr lang="en-US" sz="81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133856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17152F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Sources, definitions and important notes.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636776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5D596D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External market and competitor claims use public primary sources. Internal metrics are management-reported.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6437376"/>
            <a:ext cx="11183112" cy="0"/>
          </a:xfrm>
          <a:prstGeom prst="line">
            <a:avLst/>
          </a:prstGeom>
          <a:noFill/>
          <a:ln w="8890">
            <a:solidFill>
              <a:srgbClr val="DEDBE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6483096"/>
            <a:ext cx="30632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30" b="1" spc="70" kern="0" dirty="0">
                <a:solidFill>
                  <a:srgbClr val="8A8798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AYO  •  CONFIDENTIAL  •  SADU CAPITAL</a:t>
            </a:r>
            <a:endParaRPr lang="en-US" sz="730" dirty="0"/>
          </a:p>
        </p:txBody>
      </p:sp>
      <p:sp>
        <p:nvSpPr>
          <p:cNvPr id="9" name="Text 7"/>
          <p:cNvSpPr txBox="1"/>
          <p:nvPr/>
        </p:nvSpPr>
        <p:spPr>
          <a:xfrm>
            <a:off x="11274552" y="6469380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50" b="1" dirty="0">
                <a:solidFill>
                  <a:srgbClr val="8A8798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17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557784" y="2185416"/>
            <a:ext cx="118872" cy="118872"/>
          </a:xfrm>
          <a:prstGeom prst="ellipse">
            <a:avLst/>
          </a:prstGeom>
          <a:solidFill>
            <a:srgbClr val="6B57E8"/>
          </a:solidFill>
          <a:ln w="10160">
            <a:solidFill>
              <a:srgbClr val="6B57E8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68096" y="2112264"/>
            <a:ext cx="1527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70" b="1" dirty="0">
                <a:solidFill>
                  <a:srgbClr val="17152F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Microsoft Annual Report 2022</a:t>
            </a:r>
            <a:endParaRPr lang="en-US" sz="870" dirty="0"/>
          </a:p>
        </p:txBody>
      </p:sp>
      <p:sp>
        <p:nvSpPr>
          <p:cNvPr id="12" name="Text 10"/>
          <p:cNvSpPr txBox="1"/>
          <p:nvPr/>
        </p:nvSpPr>
        <p:spPr>
          <a:xfrm>
            <a:off x="2322576" y="2112264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5D596D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1.4B+ active Windows 10/11 devices</a:t>
            </a:r>
            <a:endParaRPr lang="en-US" sz="830" dirty="0"/>
          </a:p>
        </p:txBody>
      </p:sp>
      <p:sp>
        <p:nvSpPr>
          <p:cNvPr id="13" name="Text 11">
            <a:hlinkClick r:id="rId1" tooltip=""/>
          </p:cNvPr>
          <p:cNvSpPr txBox="1"/>
          <p:nvPr/>
        </p:nvSpPr>
        <p:spPr>
          <a:xfrm>
            <a:off x="768096" y="2368296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90" u="sng" dirty="0">
                <a:solidFill>
                  <a:srgbClr val="6B57E8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www.microsoft.com/investor/reports/ar22/index.html</a:t>
            </a:r>
            <a:endParaRPr lang="en-US" sz="690" dirty="0"/>
          </a:p>
        </p:txBody>
      </p:sp>
      <p:sp>
        <p:nvSpPr>
          <p:cNvPr id="14" name="Shape 12"/>
          <p:cNvSpPr/>
          <p:nvPr/>
        </p:nvSpPr>
        <p:spPr>
          <a:xfrm>
            <a:off x="557784" y="2798064"/>
            <a:ext cx="118872" cy="118872"/>
          </a:xfrm>
          <a:prstGeom prst="ellipse">
            <a:avLst/>
          </a:prstGeom>
          <a:solidFill>
            <a:srgbClr val="51C6D9"/>
          </a:solidFill>
          <a:ln w="10160">
            <a:solidFill>
              <a:srgbClr val="51C6D9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68096" y="2724912"/>
            <a:ext cx="1527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70" b="1" dirty="0">
                <a:solidFill>
                  <a:srgbClr val="17152F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Gartner, Aug. 2025</a:t>
            </a:r>
            <a:endParaRPr lang="en-US" sz="870" dirty="0"/>
          </a:p>
        </p:txBody>
      </p:sp>
      <p:sp>
        <p:nvSpPr>
          <p:cNvPr id="16" name="Text 14"/>
          <p:cNvSpPr txBox="1"/>
          <p:nvPr/>
        </p:nvSpPr>
        <p:spPr>
          <a:xfrm>
            <a:off x="2322576" y="2724912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5D596D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143M AI PCs / 55% share forecast for 2026</a:t>
            </a:r>
            <a:endParaRPr lang="en-US" sz="830" dirty="0"/>
          </a:p>
        </p:txBody>
      </p:sp>
      <p:sp>
        <p:nvSpPr>
          <p:cNvPr id="17" name="Text 15">
            <a:hlinkClick r:id="rId2" tooltip=""/>
          </p:cNvPr>
          <p:cNvSpPr txBox="1"/>
          <p:nvPr/>
        </p:nvSpPr>
        <p:spPr>
          <a:xfrm>
            <a:off x="768096" y="2980944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90" u="sng" dirty="0">
                <a:solidFill>
                  <a:srgbClr val="6B57E8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www.gartner.com/en/newsroom/press-releases/2025-08-28-gartner-says-artificial-intelligence-pcs-will-represent-31-percent-of-worldwide-pc-market-by-the-end-of-2025</a:t>
            </a:r>
            <a:endParaRPr lang="en-US" sz="690" dirty="0"/>
          </a:p>
        </p:txBody>
      </p:sp>
      <p:sp>
        <p:nvSpPr>
          <p:cNvPr id="18" name="Shape 16"/>
          <p:cNvSpPr/>
          <p:nvPr/>
        </p:nvSpPr>
        <p:spPr>
          <a:xfrm>
            <a:off x="557784" y="3410712"/>
            <a:ext cx="118872" cy="118872"/>
          </a:xfrm>
          <a:prstGeom prst="ellipse">
            <a:avLst/>
          </a:prstGeom>
          <a:solidFill>
            <a:srgbClr val="5BD6B0"/>
          </a:solidFill>
          <a:ln w="10160">
            <a:solidFill>
              <a:srgbClr val="5BD6B0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68096" y="3337560"/>
            <a:ext cx="1527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70" b="1" dirty="0">
                <a:solidFill>
                  <a:srgbClr val="17152F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Gartner, Jan. 2026</a:t>
            </a:r>
            <a:endParaRPr lang="en-US" sz="870" dirty="0"/>
          </a:p>
        </p:txBody>
      </p:sp>
      <p:sp>
        <p:nvSpPr>
          <p:cNvPr id="20" name="Text 18"/>
          <p:cNvSpPr txBox="1"/>
          <p:nvPr/>
        </p:nvSpPr>
        <p:spPr>
          <a:xfrm>
            <a:off x="2322576" y="3337560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5D596D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270M+ worldwide PC shipments in 2025</a:t>
            </a:r>
            <a:endParaRPr lang="en-US" sz="830" dirty="0"/>
          </a:p>
        </p:txBody>
      </p:sp>
      <p:sp>
        <p:nvSpPr>
          <p:cNvPr id="21" name="Text 19">
            <a:hlinkClick r:id="rId3" tooltip=""/>
          </p:cNvPr>
          <p:cNvSpPr txBox="1"/>
          <p:nvPr/>
        </p:nvSpPr>
        <p:spPr>
          <a:xfrm>
            <a:off x="768096" y="3593592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90" u="sng" dirty="0">
                <a:solidFill>
                  <a:srgbClr val="6B57E8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www.gartner.com/en/newsroom/press-releases/2026-1-20-gartner-says-worldwide-pc-shipments-increased-9-point-3-percent-in-fourth-quarter-of-2025-and-9-point-1-percent-for-the-full-year</a:t>
            </a:r>
            <a:endParaRPr lang="en-US" sz="690" dirty="0"/>
          </a:p>
        </p:txBody>
      </p:sp>
      <p:sp>
        <p:nvSpPr>
          <p:cNvPr id="22" name="Shape 20"/>
          <p:cNvSpPr/>
          <p:nvPr/>
        </p:nvSpPr>
        <p:spPr>
          <a:xfrm>
            <a:off x="557784" y="4023360"/>
            <a:ext cx="118872" cy="118872"/>
          </a:xfrm>
          <a:prstGeom prst="ellipse">
            <a:avLst/>
          </a:prstGeom>
          <a:solidFill>
            <a:srgbClr val="FF8074"/>
          </a:solidFill>
          <a:ln w="10160">
            <a:solidFill>
              <a:srgbClr val="FF8074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68096" y="3950208"/>
            <a:ext cx="1527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70" b="1" dirty="0">
                <a:solidFill>
                  <a:srgbClr val="17152F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Microsoft Copilot</a:t>
            </a:r>
            <a:endParaRPr lang="en-US" sz="870" dirty="0"/>
          </a:p>
        </p:txBody>
      </p:sp>
      <p:sp>
        <p:nvSpPr>
          <p:cNvPr id="24" name="Text 22"/>
          <p:cNvSpPr txBox="1"/>
          <p:nvPr/>
        </p:nvSpPr>
        <p:spPr>
          <a:xfrm>
            <a:off x="2322576" y="3950208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5D596D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Vision and computer-using agents</a:t>
            </a:r>
            <a:endParaRPr lang="en-US" sz="830" dirty="0"/>
          </a:p>
        </p:txBody>
      </p:sp>
      <p:sp>
        <p:nvSpPr>
          <p:cNvPr id="25" name="Text 23">
            <a:hlinkClick r:id="rId4" tooltip=""/>
          </p:cNvPr>
          <p:cNvSpPr txBox="1"/>
          <p:nvPr/>
        </p:nvSpPr>
        <p:spPr>
          <a:xfrm>
            <a:off x="768096" y="4206240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90" u="sng" dirty="0">
                <a:solidFill>
                  <a:srgbClr val="6B57E8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www.microsoft.com/en-us/microsoft-copilot/blog/2025/06/12/copilot-vision-on-windows-with-highlights-is-now-available-in-the-u-s</a:t>
            </a:r>
            <a:endParaRPr lang="en-US" sz="690" dirty="0"/>
          </a:p>
        </p:txBody>
      </p:sp>
      <p:sp>
        <p:nvSpPr>
          <p:cNvPr id="26" name="Shape 24"/>
          <p:cNvSpPr/>
          <p:nvPr/>
        </p:nvSpPr>
        <p:spPr>
          <a:xfrm>
            <a:off x="557784" y="4636008"/>
            <a:ext cx="118872" cy="118872"/>
          </a:xfrm>
          <a:prstGeom prst="ellipse">
            <a:avLst/>
          </a:prstGeom>
          <a:solidFill>
            <a:srgbClr val="6B57E8"/>
          </a:solidFill>
          <a:ln w="10160">
            <a:solidFill>
              <a:srgbClr val="6B57E8">
                <a:alpha val="0"/>
              </a:srgbClr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68096" y="4562856"/>
            <a:ext cx="1527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70" b="1" dirty="0">
                <a:solidFill>
                  <a:srgbClr val="17152F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OpenAI</a:t>
            </a:r>
            <a:endParaRPr lang="en-US" sz="870" dirty="0"/>
          </a:p>
        </p:txBody>
      </p:sp>
      <p:sp>
        <p:nvSpPr>
          <p:cNvPr id="28" name="Text 26"/>
          <p:cNvSpPr txBox="1"/>
          <p:nvPr/>
        </p:nvSpPr>
        <p:spPr>
          <a:xfrm>
            <a:off x="2322576" y="4562856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5D596D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Desktop context and computer use</a:t>
            </a:r>
            <a:endParaRPr lang="en-US" sz="830" dirty="0"/>
          </a:p>
        </p:txBody>
      </p:sp>
      <p:sp>
        <p:nvSpPr>
          <p:cNvPr id="29" name="Text 27">
            <a:hlinkClick r:id="rId5" tooltip=""/>
          </p:cNvPr>
          <p:cNvSpPr txBox="1"/>
          <p:nvPr/>
        </p:nvSpPr>
        <p:spPr>
          <a:xfrm>
            <a:off x="768096" y="4818888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90" u="sng" dirty="0">
                <a:solidFill>
                  <a:srgbClr val="6B57E8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openai.com/index/chatgpt-for-your-most-ambitious-work</a:t>
            </a:r>
            <a:endParaRPr lang="en-US" sz="690" dirty="0"/>
          </a:p>
        </p:txBody>
      </p:sp>
      <p:sp>
        <p:nvSpPr>
          <p:cNvPr id="30" name="Shape 28"/>
          <p:cNvSpPr/>
          <p:nvPr/>
        </p:nvSpPr>
        <p:spPr>
          <a:xfrm>
            <a:off x="557784" y="5248656"/>
            <a:ext cx="118872" cy="118872"/>
          </a:xfrm>
          <a:prstGeom prst="ellipse">
            <a:avLst/>
          </a:prstGeom>
          <a:solidFill>
            <a:srgbClr val="51C6D9"/>
          </a:solidFill>
          <a:ln w="10160">
            <a:solidFill>
              <a:srgbClr val="51C6D9">
                <a:alpha val="0"/>
              </a:srgbClr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68096" y="5175504"/>
            <a:ext cx="1527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70" b="1" dirty="0">
                <a:solidFill>
                  <a:srgbClr val="17152F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Raycast</a:t>
            </a:r>
            <a:endParaRPr lang="en-US" sz="870" dirty="0"/>
          </a:p>
        </p:txBody>
      </p:sp>
      <p:sp>
        <p:nvSpPr>
          <p:cNvPr id="32" name="Text 30"/>
          <p:cNvSpPr txBox="1"/>
          <p:nvPr/>
        </p:nvSpPr>
        <p:spPr>
          <a:xfrm>
            <a:off x="2322576" y="5175504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5D596D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AI that works with the operating system</a:t>
            </a:r>
            <a:endParaRPr lang="en-US" sz="830" dirty="0"/>
          </a:p>
        </p:txBody>
      </p:sp>
      <p:sp>
        <p:nvSpPr>
          <p:cNvPr id="33" name="Text 31">
            <a:hlinkClick r:id="rId6" tooltip=""/>
          </p:cNvPr>
          <p:cNvSpPr txBox="1"/>
          <p:nvPr/>
        </p:nvSpPr>
        <p:spPr>
          <a:xfrm>
            <a:off x="768096" y="5431536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90" u="sng" dirty="0">
                <a:solidFill>
                  <a:srgbClr val="6B57E8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www.raycast.com/core-features/ai</a:t>
            </a:r>
            <a:endParaRPr lang="en-US" sz="690" dirty="0"/>
          </a:p>
        </p:txBody>
      </p:sp>
      <p:sp>
        <p:nvSpPr>
          <p:cNvPr id="34" name="Shape 32"/>
          <p:cNvSpPr/>
          <p:nvPr/>
        </p:nvSpPr>
        <p:spPr>
          <a:xfrm>
            <a:off x="6117336" y="2185416"/>
            <a:ext cx="118872" cy="118872"/>
          </a:xfrm>
          <a:prstGeom prst="ellipse">
            <a:avLst/>
          </a:prstGeom>
          <a:solidFill>
            <a:srgbClr val="5BD6B0"/>
          </a:solidFill>
          <a:ln w="10160">
            <a:solidFill>
              <a:srgbClr val="5BD6B0">
                <a:alpha val="0"/>
              </a:srgbClr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327648" y="2112264"/>
            <a:ext cx="1527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70" b="1" dirty="0">
                <a:solidFill>
                  <a:srgbClr val="17152F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Cluely</a:t>
            </a:r>
            <a:endParaRPr lang="en-US" sz="870" dirty="0"/>
          </a:p>
        </p:txBody>
      </p:sp>
      <p:sp>
        <p:nvSpPr>
          <p:cNvPr id="36" name="Text 34"/>
          <p:cNvSpPr txBox="1"/>
          <p:nvPr/>
        </p:nvSpPr>
        <p:spPr>
          <a:xfrm>
            <a:off x="7882128" y="2112264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5D596D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Real-time, screen-aware meeting assistant</a:t>
            </a:r>
            <a:endParaRPr lang="en-US" sz="830" dirty="0"/>
          </a:p>
        </p:txBody>
      </p:sp>
      <p:sp>
        <p:nvSpPr>
          <p:cNvPr id="37" name="Text 35">
            <a:hlinkClick r:id="rId7" tooltip=""/>
          </p:cNvPr>
          <p:cNvSpPr txBox="1"/>
          <p:nvPr/>
        </p:nvSpPr>
        <p:spPr>
          <a:xfrm>
            <a:off x="6327648" y="2368296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90" u="sng" dirty="0">
                <a:solidFill>
                  <a:srgbClr val="6B57E8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cluely.com</a:t>
            </a:r>
            <a:endParaRPr lang="en-US" sz="690" dirty="0"/>
          </a:p>
        </p:txBody>
      </p:sp>
      <p:sp>
        <p:nvSpPr>
          <p:cNvPr id="38" name="Shape 36"/>
          <p:cNvSpPr/>
          <p:nvPr/>
        </p:nvSpPr>
        <p:spPr>
          <a:xfrm>
            <a:off x="6117336" y="2798064"/>
            <a:ext cx="118872" cy="118872"/>
          </a:xfrm>
          <a:prstGeom prst="ellipse">
            <a:avLst/>
          </a:prstGeom>
          <a:solidFill>
            <a:srgbClr val="FF8074"/>
          </a:solidFill>
          <a:ln w="10160">
            <a:solidFill>
              <a:srgbClr val="FF8074">
                <a:alpha val="0"/>
              </a:srgbClr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327648" y="2724912"/>
            <a:ext cx="1527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70" b="1" dirty="0">
                <a:solidFill>
                  <a:srgbClr val="17152F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Sadu Capital</a:t>
            </a:r>
            <a:endParaRPr lang="en-US" sz="870" dirty="0"/>
          </a:p>
        </p:txBody>
      </p:sp>
      <p:sp>
        <p:nvSpPr>
          <p:cNvPr id="40" name="Text 38"/>
          <p:cNvSpPr txBox="1"/>
          <p:nvPr/>
        </p:nvSpPr>
        <p:spPr>
          <a:xfrm>
            <a:off x="7882128" y="2724912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5D596D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Early-stage applied AI and scalable software focus</a:t>
            </a:r>
            <a:endParaRPr lang="en-US" sz="830" dirty="0"/>
          </a:p>
        </p:txBody>
      </p:sp>
      <p:sp>
        <p:nvSpPr>
          <p:cNvPr id="41" name="Text 39">
            <a:hlinkClick r:id="rId8" tooltip=""/>
          </p:cNvPr>
          <p:cNvSpPr txBox="1"/>
          <p:nvPr/>
        </p:nvSpPr>
        <p:spPr>
          <a:xfrm>
            <a:off x="6327648" y="2980944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90" u="sng" dirty="0">
                <a:solidFill>
                  <a:srgbClr val="6B57E8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www.sadu.vc/the-most-active-vc-firms-in-mena</a:t>
            </a:r>
            <a:endParaRPr lang="en-US" sz="690" dirty="0"/>
          </a:p>
        </p:txBody>
      </p:sp>
      <p:sp>
        <p:nvSpPr>
          <p:cNvPr id="42" name="Shape 40"/>
          <p:cNvSpPr/>
          <p:nvPr/>
        </p:nvSpPr>
        <p:spPr>
          <a:xfrm>
            <a:off x="6117336" y="3410712"/>
            <a:ext cx="118872" cy="118872"/>
          </a:xfrm>
          <a:prstGeom prst="ellipse">
            <a:avLst/>
          </a:prstGeom>
          <a:solidFill>
            <a:srgbClr val="6B57E8"/>
          </a:solidFill>
          <a:ln w="10160">
            <a:solidFill>
              <a:srgbClr val="6B57E8">
                <a:alpha val="0"/>
              </a:srgbClr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327648" y="3337560"/>
            <a:ext cx="1527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70" b="1" dirty="0">
                <a:solidFill>
                  <a:srgbClr val="17152F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Replit Agent</a:t>
            </a:r>
            <a:endParaRPr lang="en-US" sz="870" dirty="0"/>
          </a:p>
        </p:txBody>
      </p:sp>
      <p:sp>
        <p:nvSpPr>
          <p:cNvPr id="44" name="Text 42"/>
          <p:cNvSpPr txBox="1"/>
          <p:nvPr/>
        </p:nvSpPr>
        <p:spPr>
          <a:xfrm>
            <a:off x="7882128" y="3337560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5D596D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Natural-language app and website creation</a:t>
            </a:r>
            <a:endParaRPr lang="en-US" sz="830" dirty="0"/>
          </a:p>
        </p:txBody>
      </p:sp>
      <p:sp>
        <p:nvSpPr>
          <p:cNvPr id="45" name="Text 43">
            <a:hlinkClick r:id="rId9" tooltip=""/>
          </p:cNvPr>
          <p:cNvSpPr txBox="1"/>
          <p:nvPr/>
        </p:nvSpPr>
        <p:spPr>
          <a:xfrm>
            <a:off x="6327648" y="3593592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90" u="sng" dirty="0">
                <a:solidFill>
                  <a:srgbClr val="6B57E8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  <a:hlinkClick r:id="rId9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replit.com/products/agent</a:t>
            </a:r>
            <a:endParaRPr lang="en-US" sz="690" dirty="0"/>
          </a:p>
        </p:txBody>
      </p:sp>
      <p:sp>
        <p:nvSpPr>
          <p:cNvPr id="46" name="Shape 44"/>
          <p:cNvSpPr/>
          <p:nvPr/>
        </p:nvSpPr>
        <p:spPr>
          <a:xfrm>
            <a:off x="6117336" y="4023360"/>
            <a:ext cx="118872" cy="118872"/>
          </a:xfrm>
          <a:prstGeom prst="ellipse">
            <a:avLst/>
          </a:prstGeom>
          <a:solidFill>
            <a:srgbClr val="51C6D9"/>
          </a:solidFill>
          <a:ln w="10160">
            <a:solidFill>
              <a:srgbClr val="51C6D9">
                <a:alpha val="0"/>
              </a:srgbClr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327648" y="3950208"/>
            <a:ext cx="1527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70" b="1" dirty="0">
                <a:solidFill>
                  <a:srgbClr val="17152F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Manus Slides</a:t>
            </a:r>
            <a:endParaRPr lang="en-US" sz="870" dirty="0"/>
          </a:p>
        </p:txBody>
      </p:sp>
      <p:sp>
        <p:nvSpPr>
          <p:cNvPr id="48" name="Text 46"/>
          <p:cNvSpPr txBox="1"/>
          <p:nvPr/>
        </p:nvSpPr>
        <p:spPr>
          <a:xfrm>
            <a:off x="7882128" y="3950208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5D596D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AI-generated presentations</a:t>
            </a:r>
            <a:endParaRPr lang="en-US" sz="830" dirty="0"/>
          </a:p>
        </p:txBody>
      </p:sp>
      <p:sp>
        <p:nvSpPr>
          <p:cNvPr id="49" name="Text 47">
            <a:hlinkClick r:id="rId10" tooltip=""/>
          </p:cNvPr>
          <p:cNvSpPr txBox="1"/>
          <p:nvPr/>
        </p:nvSpPr>
        <p:spPr>
          <a:xfrm>
            <a:off x="6327648" y="4206240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90" u="sng" dirty="0">
                <a:solidFill>
                  <a:srgbClr val="6B57E8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  <a:hlinkClick r:id="rId10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manus.im/docs/features/slides</a:t>
            </a:r>
            <a:endParaRPr lang="en-US" sz="690" dirty="0"/>
          </a:p>
        </p:txBody>
      </p:sp>
      <p:sp>
        <p:nvSpPr>
          <p:cNvPr id="50" name="Shape 48"/>
          <p:cNvSpPr/>
          <p:nvPr/>
        </p:nvSpPr>
        <p:spPr>
          <a:xfrm>
            <a:off x="6117336" y="4636008"/>
            <a:ext cx="118872" cy="118872"/>
          </a:xfrm>
          <a:prstGeom prst="ellipse">
            <a:avLst/>
          </a:prstGeom>
          <a:solidFill>
            <a:srgbClr val="5BD6B0"/>
          </a:solidFill>
          <a:ln w="10160">
            <a:solidFill>
              <a:srgbClr val="5BD6B0">
                <a:alpha val="0"/>
              </a:srgbClr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6327648" y="4562856"/>
            <a:ext cx="1527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70" b="1" dirty="0">
                <a:solidFill>
                  <a:srgbClr val="17152F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Higgsfield</a:t>
            </a:r>
            <a:endParaRPr lang="en-US" sz="870" dirty="0"/>
          </a:p>
        </p:txBody>
      </p:sp>
      <p:sp>
        <p:nvSpPr>
          <p:cNvPr id="52" name="Text 50"/>
          <p:cNvSpPr txBox="1"/>
          <p:nvPr/>
        </p:nvSpPr>
        <p:spPr>
          <a:xfrm>
            <a:off x="7882128" y="4562856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5D596D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AI video and image generation platform</a:t>
            </a:r>
            <a:endParaRPr lang="en-US" sz="830" dirty="0"/>
          </a:p>
        </p:txBody>
      </p:sp>
      <p:sp>
        <p:nvSpPr>
          <p:cNvPr id="53" name="Text 51">
            <a:hlinkClick r:id="rId11" tooltip=""/>
          </p:cNvPr>
          <p:cNvSpPr txBox="1"/>
          <p:nvPr/>
        </p:nvSpPr>
        <p:spPr>
          <a:xfrm>
            <a:off x="6327648" y="4818888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90" u="sng" dirty="0">
                <a:solidFill>
                  <a:srgbClr val="6B57E8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  <a:hlinkClick r:id="rId1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higgsfield.ai/ai-video</a:t>
            </a:r>
            <a:endParaRPr lang="en-US" sz="690" dirty="0"/>
          </a:p>
        </p:txBody>
      </p:sp>
      <p:sp>
        <p:nvSpPr>
          <p:cNvPr id="54" name="Shape 52"/>
          <p:cNvSpPr/>
          <p:nvPr/>
        </p:nvSpPr>
        <p:spPr>
          <a:xfrm>
            <a:off x="6117336" y="5248656"/>
            <a:ext cx="118872" cy="118872"/>
          </a:xfrm>
          <a:prstGeom prst="ellipse">
            <a:avLst/>
          </a:prstGeom>
          <a:solidFill>
            <a:srgbClr val="FF8074"/>
          </a:solidFill>
          <a:ln w="10160">
            <a:solidFill>
              <a:srgbClr val="FF8074">
                <a:alpha val="0"/>
              </a:srgbClr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6327648" y="5175504"/>
            <a:ext cx="1527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70" b="1" dirty="0">
                <a:solidFill>
                  <a:srgbClr val="17152F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AYO internal</a:t>
            </a:r>
            <a:endParaRPr lang="en-US" sz="870" dirty="0"/>
          </a:p>
        </p:txBody>
      </p:sp>
      <p:sp>
        <p:nvSpPr>
          <p:cNvPr id="56" name="Text 54"/>
          <p:cNvSpPr txBox="1"/>
          <p:nvPr/>
        </p:nvSpPr>
        <p:spPr>
          <a:xfrm>
            <a:off x="7882128" y="5175504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30" dirty="0">
                <a:solidFill>
                  <a:srgbClr val="5D596D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Traction, pricing, forecasts and financing status</a:t>
            </a:r>
            <a:endParaRPr lang="en-US" sz="830" dirty="0"/>
          </a:p>
        </p:txBody>
      </p:sp>
      <p:sp>
        <p:nvSpPr>
          <p:cNvPr id="57" name="Text 55"/>
          <p:cNvSpPr txBox="1"/>
          <p:nvPr/>
        </p:nvSpPr>
        <p:spPr>
          <a:xfrm>
            <a:off x="6327648" y="5431536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90" dirty="0">
                <a:solidFill>
                  <a:srgbClr val="6B57E8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AYO management data and planning model v2.4, August 2026</a:t>
            </a:r>
            <a:endParaRPr lang="en-US" sz="690" dirty="0"/>
          </a:p>
        </p:txBody>
      </p:sp>
      <p:sp>
        <p:nvSpPr>
          <p:cNvPr id="58" name="Shape 56"/>
          <p:cNvSpPr/>
          <p:nvPr/>
        </p:nvSpPr>
        <p:spPr>
          <a:xfrm>
            <a:off x="566928" y="5925312"/>
            <a:ext cx="11064240" cy="356616"/>
          </a:xfrm>
          <a:prstGeom prst="roundRect">
            <a:avLst>
              <a:gd name="adj" fmla="val 33333"/>
            </a:avLst>
          </a:prstGeom>
          <a:solidFill>
            <a:srgbClr val="0E0D22"/>
          </a:solidFill>
          <a:ln w="12700">
            <a:solidFill>
              <a:srgbClr val="0E0D22">
                <a:alpha val="0"/>
              </a:srgbClr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786384" y="6016752"/>
            <a:ext cx="10607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80" dirty="0">
                <a:solidFill>
                  <a:srgbClr val="FFFFFF"/>
                </a:solidFill>
                <a:latin typeface="Nimbus Sans" pitchFamily="34" charset="0"/>
                <a:ea typeface="Nimbus Sans" pitchFamily="34" charset="-122"/>
                <a:cs typeface="Nimbus Sans" pitchFamily="34" charset="-120"/>
              </a:rPr>
              <a:t>Important: TAM/SAM/SOM, roadmap timing, forecasts and financing outcomes are planning estimates—not guarantees. Target integrations do not imply signed partnerships.</a:t>
            </a:r>
            <a:endParaRPr lang="en-US" sz="7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imbus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imbus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AYO Systems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AYO — The AI Interface for the PC</dc:title>
  <dc:subject>AYO investor pitch prepared for Sadu Capital</dc:subject>
  <dc:creator>AYO Systems</dc:creator>
  <cp:lastModifiedBy>AYO Systems</cp:lastModifiedBy>
  <cp:revision>1</cp:revision>
  <dcterms:created xsi:type="dcterms:W3CDTF">2026-08-19T07:04:23Z</dcterms:created>
  <dcterms:modified xsi:type="dcterms:W3CDTF">2026-08-19T07:04:23Z</dcterms:modified>
</cp:coreProperties>
</file>